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Fira Code SemiBold"/>
      <p:regular r:id="rId28"/>
      <p:bold r:id="rId29"/>
    </p:embeddedFont>
    <p:embeddedFont>
      <p:font typeface="Fira Code"/>
      <p:bold r:id="rId30"/>
    </p:embeddedFont>
    <p:embeddedFont>
      <p:font typeface="DM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tlTM5zcojttH1TpCFsF7IA+Fp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raCodeSemiBo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FiraCode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df21f349_0_3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9df21f349_0_3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df21f349_0_3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409df21f349_0_3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df21f349_0_3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409df21f349_0_3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df21f349_0_3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409df21f349_0_3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09df21f349_0_3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409df21f349_0_3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09df21f349_0_3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409df21f349_0_3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09df21f349_0_2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409df21f349_0_26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409df21f349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409df21f349_0_2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409df21f349_0_2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409df21f349_0_29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409df21f349_0_3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409df21f349_0_3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409df21f349_0_3170"/>
          <p:cNvGrpSpPr/>
          <p:nvPr/>
        </p:nvGrpSpPr>
        <p:grpSpPr>
          <a:xfrm>
            <a:off x="762000" y="1238250"/>
            <a:ext cx="1428900" cy="285900"/>
            <a:chOff x="0" y="0"/>
            <a:chExt cx="1428900" cy="285900"/>
          </a:xfrm>
        </p:grpSpPr>
        <p:sp>
          <p:nvSpPr>
            <p:cNvPr id="85" name="Google Shape;85;g409df21f349_0_3170"/>
            <p:cNvSpPr/>
            <p:nvPr/>
          </p:nvSpPr>
          <p:spPr>
            <a:xfrm>
              <a:off x="0" y="0"/>
              <a:ext cx="1428900" cy="285900"/>
            </a:xfrm>
            <a:prstGeom prst="roundRect">
              <a:avLst>
                <a:gd fmla="val 50000" name="adj"/>
              </a:avLst>
            </a:prstGeom>
            <a:solidFill>
              <a:srgbClr val="E8D9B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409df21f349_0_3170"/>
            <p:cNvSpPr txBox="1"/>
            <p:nvPr/>
          </p:nvSpPr>
          <p:spPr>
            <a:xfrm>
              <a:off x="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LINK &amp; QR CODE</a:t>
              </a:r>
              <a:endParaRPr b="1" sz="1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7" name="Google Shape;87;g409df21f349_0_3170"/>
          <p:cNvSpPr txBox="1"/>
          <p:nvPr/>
        </p:nvSpPr>
        <p:spPr>
          <a:xfrm>
            <a:off x="762000" y="1762125"/>
            <a:ext cx="5334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Akses Materi, Challenge, &amp; Post Test</a:t>
            </a:r>
            <a:endParaRPr b="1" sz="36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g409df21f349_0_3170"/>
          <p:cNvSpPr txBox="1"/>
          <p:nvPr/>
        </p:nvSpPr>
        <p:spPr>
          <a:xfrm>
            <a:off x="762000" y="3190875"/>
            <a:ext cx="533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Pindai QR code di samping menggunakan smartphone Anda, atau kunjungi tautan di bawah ini untuk mengakses seluruh materi belajar, tantangan praktis, dan evaluasi sesi.</a:t>
            </a:r>
            <a:endParaRPr b="0" sz="160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g409df21f349_0_3170"/>
          <p:cNvGrpSpPr/>
          <p:nvPr/>
        </p:nvGrpSpPr>
        <p:grpSpPr>
          <a:xfrm>
            <a:off x="762000" y="4381500"/>
            <a:ext cx="4572000" cy="609600"/>
            <a:chOff x="0" y="0"/>
            <a:chExt cx="4572000" cy="609600"/>
          </a:xfrm>
        </p:grpSpPr>
        <p:sp>
          <p:nvSpPr>
            <p:cNvPr id="90" name="Google Shape;90;g409df21f349_0_3170"/>
            <p:cNvSpPr/>
            <p:nvPr/>
          </p:nvSpPr>
          <p:spPr>
            <a:xfrm>
              <a:off x="0" y="0"/>
              <a:ext cx="4572000" cy="609600"/>
            </a:xfrm>
            <a:prstGeom prst="roundRect">
              <a:avLst>
                <a:gd fmla="val 25000" name="adj"/>
              </a:avLst>
            </a:prstGeom>
            <a:solidFill>
              <a:srgbClr val="7A1F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409df21f349_0_3170"/>
            <p:cNvSpPr txBox="1"/>
            <p:nvPr/>
          </p:nvSpPr>
          <p:spPr>
            <a:xfrm>
              <a:off x="0" y="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https://linktr.ee/InspiraLabs_SMA</a:t>
              </a:r>
              <a:endParaRPr b="1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2" name="Google Shape;92;g409df21f349_0_3170"/>
          <p:cNvGrpSpPr/>
          <p:nvPr/>
        </p:nvGrpSpPr>
        <p:grpSpPr>
          <a:xfrm>
            <a:off x="6858000" y="1047750"/>
            <a:ext cx="4572000" cy="4572000"/>
            <a:chOff x="0" y="0"/>
            <a:chExt cx="4572000" cy="4572000"/>
          </a:xfrm>
        </p:grpSpPr>
        <p:sp>
          <p:nvSpPr>
            <p:cNvPr id="93" name="Google Shape;93;g409df21f349_0_3170"/>
            <p:cNvSpPr/>
            <p:nvPr/>
          </p:nvSpPr>
          <p:spPr>
            <a:xfrm>
              <a:off x="0" y="0"/>
              <a:ext cx="4572000" cy="4572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8D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" name="Google Shape;94;g409df21f349_0_31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38100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g409df21f349_0_3170"/>
          <p:cNvSpPr txBox="1"/>
          <p:nvPr/>
        </p:nvSpPr>
        <p:spPr>
          <a:xfrm>
            <a:off x="762000" y="60960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</a:t>
            </a:r>
            <a:endParaRPr b="1" sz="120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g409df21f349_0_34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124" y="862964"/>
            <a:ext cx="3054101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409df21f349_0_3403"/>
          <p:cNvSpPr/>
          <p:nvPr/>
        </p:nvSpPr>
        <p:spPr>
          <a:xfrm>
            <a:off x="9334500" y="-142875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5A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409df21f349_0_3403"/>
          <p:cNvSpPr/>
          <p:nvPr/>
        </p:nvSpPr>
        <p:spPr>
          <a:xfrm>
            <a:off x="7905750" y="4953000"/>
            <a:ext cx="2381400" cy="2381400"/>
          </a:xfrm>
          <a:prstGeom prst="roundRect">
            <a:avLst>
              <a:gd fmla="val 50000" name="adj"/>
            </a:avLst>
          </a:prstGeom>
          <a:solidFill>
            <a:srgbClr val="5A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409df21f349_0_3403"/>
          <p:cNvSpPr txBox="1"/>
          <p:nvPr/>
        </p:nvSpPr>
        <p:spPr>
          <a:xfrm>
            <a:off x="1013124" y="1499550"/>
            <a:ext cx="87702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Lanjutan P6</a:t>
            </a:r>
            <a:endParaRPr b="1" sz="5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HTML Dasar-Menengah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(Form &amp; Tabel)</a:t>
            </a:r>
            <a:endParaRPr/>
          </a:p>
        </p:txBody>
      </p:sp>
      <p:sp>
        <p:nvSpPr>
          <p:cNvPr id="104" name="Google Shape;104;g409df21f349_0_3403"/>
          <p:cNvSpPr txBox="1"/>
          <p:nvPr/>
        </p:nvSpPr>
        <p:spPr>
          <a:xfrm>
            <a:off x="1079775" y="4405410"/>
            <a:ext cx="76200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8D9B5"/>
                </a:solidFill>
                <a:latin typeface="Calibri"/>
                <a:ea typeface="Calibri"/>
                <a:cs typeface="Calibri"/>
                <a:sym typeface="Calibri"/>
              </a:rPr>
              <a:t>Memulai project mini-dashboard suhu SMA: form pengaturan + tabel riwayat data.</a:t>
            </a:r>
            <a:endParaRPr/>
          </a:p>
        </p:txBody>
      </p:sp>
      <p:sp>
        <p:nvSpPr>
          <p:cNvPr id="105" name="Google Shape;105;g409df21f349_0_3403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P6 SMA |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409df21f349_0_3260"/>
          <p:cNvPicPr preferRelativeResize="0"/>
          <p:nvPr/>
        </p:nvPicPr>
        <p:blipFill rotWithShape="1">
          <a:blip r:embed="rId3">
            <a:alphaModFix/>
          </a:blip>
          <a:srcRect b="0" l="21834" r="21834" t="0"/>
          <a:stretch/>
        </p:blipFill>
        <p:spPr>
          <a:xfrm>
            <a:off x="762000" y="533400"/>
            <a:ext cx="20955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409df21f349_0_3260"/>
          <p:cNvSpPr txBox="1"/>
          <p:nvPr/>
        </p:nvSpPr>
        <p:spPr>
          <a:xfrm>
            <a:off x="762000" y="1009650"/>
            <a:ext cx="10668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Tabel: Menampilkan Riwayat Data</a:t>
            </a:r>
            <a:endParaRPr b="1" sz="32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2" name="Google Shape;112;g409df21f349_0_3260"/>
          <p:cNvGrpSpPr/>
          <p:nvPr/>
        </p:nvGrpSpPr>
        <p:grpSpPr>
          <a:xfrm>
            <a:off x="6381750" y="1809750"/>
            <a:ext cx="5048400" cy="4191000"/>
            <a:chOff x="0" y="0"/>
            <a:chExt cx="5048400" cy="4191000"/>
          </a:xfrm>
        </p:grpSpPr>
        <p:sp>
          <p:nvSpPr>
            <p:cNvPr id="113" name="Google Shape;113;g409df21f349_0_3260"/>
            <p:cNvSpPr/>
            <p:nvPr/>
          </p:nvSpPr>
          <p:spPr>
            <a:xfrm>
              <a:off x="0" y="0"/>
              <a:ext cx="50484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8D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409df21f349_0_3260"/>
            <p:cNvSpPr/>
            <p:nvPr/>
          </p:nvSpPr>
          <p:spPr>
            <a:xfrm>
              <a:off x="0" y="0"/>
              <a:ext cx="5048400" cy="76200"/>
            </a:xfrm>
            <a:prstGeom prst="roundRect">
              <a:avLst>
                <a:gd fmla="val 50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409df21f349_0_3260"/>
            <p:cNvSpPr txBox="1"/>
            <p:nvPr/>
          </p:nvSpPr>
          <p:spPr>
            <a:xfrm>
              <a:off x="285750" y="285750"/>
              <a:ext cx="4476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A1F2B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&lt;table&gt;</a:t>
              </a:r>
              <a:r>
                <a:rPr lang="en-US" sz="16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→ pembungkus seluruh tabel</a:t>
              </a:r>
              <a:endParaRPr sz="16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A1F2B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&lt;tr&gt;</a:t>
              </a:r>
              <a:r>
                <a:rPr lang="en-US" sz="16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(Table Row) → satu baris</a:t>
              </a:r>
              <a:endParaRPr sz="16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A1F2B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&lt;th&gt;</a:t>
              </a:r>
              <a:r>
                <a:rPr lang="en-US" sz="16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(Table Header) → judul kolom (tebal)</a:t>
              </a:r>
              <a:endParaRPr sz="16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A1F2B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&lt;td&gt;</a:t>
              </a:r>
              <a:r>
                <a:rPr lang="en-US" sz="16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(Table Data) → sel data biasa</a:t>
              </a:r>
              <a:endParaRPr sz="16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" name="Google Shape;116;g409df21f349_0_3260"/>
            <p:cNvGrpSpPr/>
            <p:nvPr/>
          </p:nvGrpSpPr>
          <p:grpSpPr>
            <a:xfrm>
              <a:off x="285750" y="2952750"/>
              <a:ext cx="4476900" cy="952500"/>
              <a:chOff x="0" y="0"/>
              <a:chExt cx="4476900" cy="952500"/>
            </a:xfrm>
          </p:grpSpPr>
          <p:sp>
            <p:nvSpPr>
              <p:cNvPr id="117" name="Google Shape;117;g409df21f349_0_3260"/>
              <p:cNvSpPr/>
              <p:nvPr/>
            </p:nvSpPr>
            <p:spPr>
              <a:xfrm>
                <a:off x="0" y="0"/>
                <a:ext cx="44769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2F2"/>
              </a:solidFill>
              <a:ln cap="flat" cmpd="sng" w="9525">
                <a:solidFill>
                  <a:srgbClr val="F8B4B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g409df21f349_0_3260"/>
              <p:cNvSpPr/>
              <p:nvPr/>
            </p:nvSpPr>
            <p:spPr>
              <a:xfrm>
                <a:off x="0" y="0"/>
                <a:ext cx="573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F443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g409df21f349_0_3260"/>
              <p:cNvSpPr txBox="1"/>
              <p:nvPr/>
            </p:nvSpPr>
            <p:spPr>
              <a:xfrm>
                <a:off x="190500" y="142875"/>
                <a:ext cx="4095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D32F2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Kesalahan umum:</a:t>
                </a:r>
                <a:endParaRPr b="1" sz="1300">
                  <a:solidFill>
                    <a:srgbClr val="D32F2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&lt;tr&gt; atau &lt;td&gt; HARUS berada di dalam wadah yang benar, tidak boleh langsung di luar struktur tabel.</a:t>
                </a:r>
                <a:endParaRPr sz="12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0" name="Google Shape;120;g409df21f349_0_3260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P6 SMA | 9</a:t>
            </a:r>
            <a:endParaRPr/>
          </a:p>
        </p:txBody>
      </p:sp>
      <p:grpSp>
        <p:nvGrpSpPr>
          <p:cNvPr id="121" name="Google Shape;121;g409df21f349_0_3260"/>
          <p:cNvGrpSpPr/>
          <p:nvPr/>
        </p:nvGrpSpPr>
        <p:grpSpPr>
          <a:xfrm>
            <a:off x="762000" y="1809750"/>
            <a:ext cx="5048400" cy="4191000"/>
            <a:chOff x="0" y="0"/>
            <a:chExt cx="5048400" cy="4191000"/>
          </a:xfrm>
        </p:grpSpPr>
        <p:sp>
          <p:nvSpPr>
            <p:cNvPr id="122" name="Google Shape;122;g409df21f349_0_3260"/>
            <p:cNvSpPr/>
            <p:nvPr/>
          </p:nvSpPr>
          <p:spPr>
            <a:xfrm>
              <a:off x="0" y="0"/>
              <a:ext cx="50484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8D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409df21f349_0_3260"/>
            <p:cNvSpPr/>
            <p:nvPr/>
          </p:nvSpPr>
          <p:spPr>
            <a:xfrm>
              <a:off x="0" y="0"/>
              <a:ext cx="5048400" cy="76200"/>
            </a:xfrm>
            <a:prstGeom prst="roundRect">
              <a:avLst>
                <a:gd fmla="val 50000" name="adj"/>
              </a:avLst>
            </a:prstGeom>
            <a:solidFill>
              <a:srgbClr val="7A1F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409df21f349_0_3260"/>
            <p:cNvSpPr txBox="1"/>
            <p:nvPr/>
          </p:nvSpPr>
          <p:spPr>
            <a:xfrm>
              <a:off x="285750" y="28575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&lt;table&gt;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&lt;tr&gt;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&lt;th&gt;Waktu&lt;/th&gt;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&lt;th&gt;Suhu&lt;/th&gt;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&lt;th&gt;Kelembapan&lt;/th&gt;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&lt;/tr&gt;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&lt;tr&gt;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&lt;td&gt;09:00&lt;/td&gt;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&lt;td&gt;31°C&lt;/td&gt;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    &lt;td&gt;55%&lt;/td&gt;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    &lt;/tr&gt;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    &lt;/table&gt;</a:t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g409df21f349_0_3278"/>
          <p:cNvGrpSpPr/>
          <p:nvPr/>
        </p:nvGrpSpPr>
        <p:grpSpPr>
          <a:xfrm>
            <a:off x="952500" y="952500"/>
            <a:ext cx="1714500" cy="324000"/>
            <a:chOff x="0" y="0"/>
            <a:chExt cx="1714500" cy="324000"/>
          </a:xfrm>
        </p:grpSpPr>
        <p:sp>
          <p:nvSpPr>
            <p:cNvPr id="130" name="Google Shape;130;g409df21f349_0_3278"/>
            <p:cNvSpPr/>
            <p:nvPr/>
          </p:nvSpPr>
          <p:spPr>
            <a:xfrm>
              <a:off x="0" y="0"/>
              <a:ext cx="1714500" cy="324000"/>
            </a:xfrm>
            <a:prstGeom prst="roundRect">
              <a:avLst>
                <a:gd fmla="val 50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g409df21f349_0_3278"/>
            <p:cNvSpPr txBox="1"/>
            <p:nvPr/>
          </p:nvSpPr>
          <p:spPr>
            <a:xfrm>
              <a:off x="0" y="0"/>
              <a:ext cx="1714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AF8F5"/>
                  </a:solidFill>
                  <a:latin typeface="Cambria"/>
                  <a:ea typeface="Cambria"/>
                  <a:cs typeface="Cambria"/>
                  <a:sym typeface="Cambria"/>
                </a:rPr>
                <a:t>PERTANYAAN</a:t>
              </a:r>
              <a:endParaRPr b="1" sz="1100">
                <a:solidFill>
                  <a:srgbClr val="FAF8F5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32" name="Google Shape;132;g409df21f349_0_3278"/>
          <p:cNvSpPr txBox="1"/>
          <p:nvPr/>
        </p:nvSpPr>
        <p:spPr>
          <a:xfrm>
            <a:off x="952500" y="1619250"/>
            <a:ext cx="61437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AF8F5"/>
                </a:solidFill>
                <a:latin typeface="Cambria"/>
                <a:ea typeface="Cambria"/>
                <a:cs typeface="Cambria"/>
                <a:sym typeface="Cambria"/>
              </a:rPr>
              <a:t>"Apa yang kita gunakan kalau kita punya 100 baris data riwayat suhu, apakah harus menulis 100 secara manual?"</a:t>
            </a:r>
            <a:endParaRPr b="1" sz="3600">
              <a:solidFill>
                <a:srgbClr val="FAF8F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33" name="Google Shape;133;g409df21f349_0_3278"/>
          <p:cNvGrpSpPr/>
          <p:nvPr/>
        </p:nvGrpSpPr>
        <p:grpSpPr>
          <a:xfrm>
            <a:off x="7498525" y="2392475"/>
            <a:ext cx="3810000" cy="2073059"/>
            <a:chOff x="0" y="0"/>
            <a:chExt cx="3810000" cy="4000500"/>
          </a:xfrm>
        </p:grpSpPr>
        <p:sp>
          <p:nvSpPr>
            <p:cNvPr id="134" name="Google Shape;134;g409df21f349_0_3278"/>
            <p:cNvSpPr/>
            <p:nvPr/>
          </p:nvSpPr>
          <p:spPr>
            <a:xfrm>
              <a:off x="0" y="0"/>
              <a:ext cx="3810000" cy="4000500"/>
            </a:xfrm>
            <a:prstGeom prst="roundRect">
              <a:avLst>
                <a:gd fmla="val 4000" name="adj"/>
              </a:avLst>
            </a:prstGeom>
            <a:solidFill>
              <a:srgbClr val="FAF8F5"/>
            </a:solidFill>
            <a:ln cap="flat" cmpd="sng" w="14300">
              <a:solidFill>
                <a:srgbClr val="E8D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g409df21f349_0_3278"/>
            <p:cNvSpPr/>
            <p:nvPr/>
          </p:nvSpPr>
          <p:spPr>
            <a:xfrm>
              <a:off x="0" y="0"/>
              <a:ext cx="3810000" cy="76200"/>
            </a:xfrm>
            <a:prstGeom prst="roundRect">
              <a:avLst>
                <a:gd fmla="val 50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409df21f349_0_3278"/>
            <p:cNvSpPr txBox="1"/>
            <p:nvPr/>
          </p:nvSpPr>
          <p:spPr>
            <a:xfrm>
              <a:off x="285750" y="38100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💡 Jembatan Diskusi:</a:t>
              </a:r>
              <a:endParaRPr b="1" sz="25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Hubungkan ke materi</a:t>
              </a:r>
              <a:r>
                <a:rPr lang="en-US" sz="20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-US" sz="20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yang sudah dipelajari untuk mengotomatisasi pembuatan baris tabel.</a:t>
              </a:r>
              <a:endParaRPr b="0" sz="20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g409df21f349_0_3278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P6 SMA | 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df21f349_0_3290"/>
          <p:cNvSpPr txBox="1"/>
          <p:nvPr/>
        </p:nvSpPr>
        <p:spPr>
          <a:xfrm>
            <a:off x="762000" y="9416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Buat Tabel Riwayat Sensor (+10)</a:t>
            </a:r>
            <a:endParaRPr b="1" sz="3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g409df21f349_0_3290"/>
          <p:cNvSpPr/>
          <p:nvPr/>
        </p:nvSpPr>
        <p:spPr>
          <a:xfrm>
            <a:off x="762000" y="1714500"/>
            <a:ext cx="4953000" cy="4095900"/>
          </a:xfrm>
          <a:prstGeom prst="roundRect">
            <a:avLst>
              <a:gd fmla="val 3720" name="adj"/>
            </a:avLst>
          </a:prstGeom>
          <a:solidFill>
            <a:srgbClr val="FAF8F5"/>
          </a:solidFill>
          <a:ln cap="flat" cmpd="sng" w="143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409df21f349_0_3290"/>
          <p:cNvSpPr txBox="1"/>
          <p:nvPr/>
        </p:nvSpPr>
        <p:spPr>
          <a:xfrm>
            <a:off x="1143000" y="2000250"/>
            <a:ext cx="41910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Tugas:</a:t>
            </a:r>
            <a:endParaRPr b="1" sz="21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0675" lvl="0" marL="457200" rtl="0" algn="l">
              <a:spcBef>
                <a:spcPts val="1500"/>
              </a:spcBef>
              <a:spcAft>
                <a:spcPts val="0"/>
              </a:spcAft>
              <a:buClr>
                <a:srgbClr val="7A1F2B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Buat tabel riwayat sensor dengan 4 kolom header: </a:t>
            </a:r>
            <a:r>
              <a:rPr b="1"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Waktu</a:t>
            </a: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Suhu</a:t>
            </a: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Kelembapan</a:t>
            </a: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50">
              <a:solidFill>
                <a:srgbClr val="7A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Clr>
                <a:srgbClr val="7A1F2B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Isi dengan </a:t>
            </a:r>
            <a:r>
              <a:rPr b="1"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5 baris data dummy</a:t>
            </a: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 (boleh dikarang sendiri).</a:t>
            </a:r>
            <a:endParaRPr sz="1450">
              <a:solidFill>
                <a:srgbClr val="7A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Clr>
                <a:srgbClr val="7A1F2B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Pastikan datanya variatif (ada yang status Normal, ada yang Panas/Dingin).</a:t>
            </a:r>
            <a:endParaRPr sz="1450">
              <a:solidFill>
                <a:srgbClr val="7A1F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1200"/>
              </a:spcAft>
              <a:buClr>
                <a:srgbClr val="7A1F2B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rPr>
              <a:t>Simpan sebagai file:</a:t>
            </a:r>
            <a:r>
              <a:rPr b="1" lang="en-US" sz="1200">
                <a:solidFill>
                  <a:srgbClr val="7A1F2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P6_NamaSiswa_C2.html</a:t>
            </a:r>
            <a:endParaRPr sz="1450">
              <a:solidFill>
                <a:srgbClr val="7A1F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409df21f349_0_3290"/>
          <p:cNvSpPr/>
          <p:nvPr/>
        </p:nvSpPr>
        <p:spPr>
          <a:xfrm>
            <a:off x="6096000" y="1714500"/>
            <a:ext cx="5334000" cy="4095900"/>
          </a:xfrm>
          <a:prstGeom prst="roundRect">
            <a:avLst>
              <a:gd fmla="val 3720" name="adj"/>
            </a:avLst>
          </a:prstGeom>
          <a:solidFill>
            <a:srgbClr val="50131B"/>
          </a:solidFill>
          <a:ln cap="flat" cmpd="sng" w="143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g409df21f349_0_32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0250"/>
            <a:ext cx="4953000" cy="3524400"/>
          </a:xfrm>
          <a:prstGeom prst="roundRect">
            <a:avLst>
              <a:gd fmla="val 2162" name="adj"/>
            </a:avLst>
          </a:prstGeom>
          <a:noFill/>
          <a:ln>
            <a:noFill/>
          </a:ln>
        </p:spPr>
      </p:pic>
      <p:sp>
        <p:nvSpPr>
          <p:cNvPr id="147" name="Google Shape;147;g409df21f349_0_3290"/>
          <p:cNvSpPr txBox="1"/>
          <p:nvPr/>
        </p:nvSpPr>
        <p:spPr>
          <a:xfrm>
            <a:off x="762000" y="6419850"/>
            <a:ext cx="10668000" cy="14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P6 SMA | 11</a:t>
            </a:r>
            <a:endParaRPr b="0" sz="971">
              <a:solidFill>
                <a:srgbClr val="FAF8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g409df21f349_0_3290"/>
          <p:cNvGrpSpPr/>
          <p:nvPr/>
        </p:nvGrpSpPr>
        <p:grpSpPr>
          <a:xfrm>
            <a:off x="762000" y="428625"/>
            <a:ext cx="2667000" cy="304800"/>
            <a:chOff x="0" y="0"/>
            <a:chExt cx="2667000" cy="304800"/>
          </a:xfrm>
        </p:grpSpPr>
        <p:sp>
          <p:nvSpPr>
            <p:cNvPr id="149" name="Google Shape;149;g409df21f349_0_3290"/>
            <p:cNvSpPr/>
            <p:nvPr/>
          </p:nvSpPr>
          <p:spPr>
            <a:xfrm>
              <a:off x="0" y="0"/>
              <a:ext cx="2667000" cy="304800"/>
            </a:xfrm>
            <a:prstGeom prst="roundRect">
              <a:avLst>
                <a:gd fmla="val 50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409df21f349_0_3290"/>
            <p:cNvSpPr txBox="1"/>
            <p:nvPr/>
          </p:nvSpPr>
          <p:spPr>
            <a:xfrm>
              <a:off x="0" y="0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TOPIK 2 DARI 3 — CHALLENGE 🟡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409df21f349_0_3302"/>
          <p:cNvGrpSpPr/>
          <p:nvPr/>
        </p:nvGrpSpPr>
        <p:grpSpPr>
          <a:xfrm>
            <a:off x="762000" y="523875"/>
            <a:ext cx="2381400" cy="324000"/>
            <a:chOff x="0" y="0"/>
            <a:chExt cx="2381400" cy="324000"/>
          </a:xfrm>
        </p:grpSpPr>
        <p:sp>
          <p:nvSpPr>
            <p:cNvPr id="156" name="Google Shape;156;g409df21f349_0_3302"/>
            <p:cNvSpPr/>
            <p:nvPr/>
          </p:nvSpPr>
          <p:spPr>
            <a:xfrm>
              <a:off x="0" y="0"/>
              <a:ext cx="2381400" cy="324000"/>
            </a:xfrm>
            <a:prstGeom prst="roundRect">
              <a:avLst>
                <a:gd fmla="val 50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g409df21f349_0_3302"/>
            <p:cNvSpPr txBox="1"/>
            <p:nvPr/>
          </p:nvSpPr>
          <p:spPr>
            <a:xfrm>
              <a:off x="0" y="0"/>
              <a:ext cx="23814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AF8F5"/>
                  </a:solidFill>
                  <a:latin typeface="Cambria"/>
                  <a:ea typeface="Cambria"/>
                  <a:cs typeface="Cambria"/>
                  <a:sym typeface="Cambria"/>
                </a:rPr>
                <a:t>REVIEW</a:t>
              </a:r>
              <a:endParaRPr b="1" sz="1000">
                <a:solidFill>
                  <a:srgbClr val="FAF8F5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58" name="Google Shape;158;g409df21f349_0_3302"/>
          <p:cNvSpPr txBox="1"/>
          <p:nvPr/>
        </p:nvSpPr>
        <p:spPr>
          <a:xfrm>
            <a:off x="762000" y="1047750"/>
            <a:ext cx="10668000" cy="54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15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Rangkaian Form &amp; Tabel Utuh</a:t>
            </a:r>
            <a:endParaRPr b="1" i="0" sz="3515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59" name="Google Shape;159;g409df21f349_0_3302"/>
          <p:cNvGrpSpPr/>
          <p:nvPr/>
        </p:nvGrpSpPr>
        <p:grpSpPr>
          <a:xfrm>
            <a:off x="762000" y="1809750"/>
            <a:ext cx="8295284" cy="4095900"/>
            <a:chOff x="0" y="0"/>
            <a:chExt cx="4953000" cy="4095900"/>
          </a:xfrm>
        </p:grpSpPr>
        <p:sp>
          <p:nvSpPr>
            <p:cNvPr id="160" name="Google Shape;160;g409df21f349_0_3302"/>
            <p:cNvSpPr/>
            <p:nvPr/>
          </p:nvSpPr>
          <p:spPr>
            <a:xfrm>
              <a:off x="0" y="0"/>
              <a:ext cx="4953000" cy="4095900"/>
            </a:xfrm>
            <a:prstGeom prst="roundRect">
              <a:avLst>
                <a:gd fmla="val 3720" name="adj"/>
              </a:avLst>
            </a:prstGeom>
            <a:solidFill>
              <a:srgbClr val="FAF8F5"/>
            </a:solidFill>
            <a:ln cap="flat" cmpd="sng" w="14300">
              <a:solidFill>
                <a:srgbClr val="E8D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409df21f349_0_3302"/>
            <p:cNvSpPr txBox="1"/>
            <p:nvPr/>
          </p:nvSpPr>
          <p:spPr>
            <a:xfrm>
              <a:off x="381000" y="381000"/>
              <a:ext cx="41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Kita gabungkan semua elemen:</a:t>
              </a:r>
              <a:endParaRPr b="1" sz="26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6195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2B2320"/>
                </a:buClr>
                <a:buSzPts val="2100"/>
                <a:buFont typeface="Calibri"/>
                <a:buChar char="●"/>
              </a:pP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Judul utama (</a:t>
              </a:r>
              <a:r>
                <a:rPr b="1" lang="en-US" sz="2100">
                  <a:solidFill>
                    <a:srgbClr val="7A1F2B"/>
                  </a:solidFill>
                  <a:latin typeface="Arial"/>
                  <a:ea typeface="Arial"/>
                  <a:cs typeface="Arial"/>
                  <a:sym typeface="Arial"/>
                </a:rPr>
                <a:t>&lt;h1&gt;</a:t>
              </a: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21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2B2320"/>
                </a:buClr>
                <a:buSzPts val="2100"/>
                <a:buFont typeface="Calibri"/>
                <a:buChar char="●"/>
              </a:pP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Form input batas suhu</a:t>
              </a:r>
              <a:endParaRPr sz="21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2B2320"/>
                </a:buClr>
                <a:buSzPts val="2100"/>
                <a:buFont typeface="Calibri"/>
                <a:buChar char="●"/>
              </a:pP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Select dropdown mode kipas</a:t>
              </a:r>
              <a:endParaRPr sz="21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2B2320"/>
                </a:buClr>
                <a:buSzPts val="2100"/>
                <a:buFont typeface="Calibri"/>
                <a:buChar char="●"/>
              </a:pP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Tombol simpan</a:t>
              </a:r>
              <a:endParaRPr sz="21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2B2320"/>
                </a:buClr>
                <a:buSzPts val="2100"/>
                <a:buFont typeface="Calibri"/>
                <a:buChar char="●"/>
              </a:pPr>
              <a:r>
                <a:rPr lang="en-US" sz="21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Tabel riwayat sensor yang sudah dibuat</a:t>
              </a:r>
              <a:endParaRPr sz="21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g409df21f349_0_3302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P6 SMA | 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8874" y="1642169"/>
            <a:ext cx="3054101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"/>
          <p:cNvSpPr/>
          <p:nvPr/>
        </p:nvSpPr>
        <p:spPr>
          <a:xfrm>
            <a:off x="9334500" y="-142875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5A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7905750" y="4953000"/>
            <a:ext cx="2381250" cy="2381250"/>
          </a:xfrm>
          <a:prstGeom prst="roundRect">
            <a:avLst>
              <a:gd fmla="val 50000" name="adj"/>
            </a:avLst>
          </a:prstGeom>
          <a:solidFill>
            <a:srgbClr val="5A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1975328" y="2356544"/>
            <a:ext cx="824134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CSS Box Model &amp; Flexbox</a:t>
            </a:r>
            <a:endParaRPr/>
          </a:p>
        </p:txBody>
      </p:sp>
      <p:sp>
        <p:nvSpPr>
          <p:cNvPr id="171" name="Google Shape;171;p1"/>
          <p:cNvSpPr txBox="1"/>
          <p:nvPr/>
        </p:nvSpPr>
        <p:spPr>
          <a:xfrm>
            <a:off x="2286000" y="3491805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8D9B5"/>
                </a:solidFill>
                <a:latin typeface="Calibri"/>
                <a:ea typeface="Calibri"/>
                <a:cs typeface="Calibri"/>
                <a:sym typeface="Calibri"/>
              </a:rPr>
              <a:t>Teknologi yang bikin hampir semua website modern otomatis rapi di semua ukuran layar.</a:t>
            </a:r>
            <a:endParaRPr/>
          </a:p>
        </p:txBody>
      </p:sp>
      <p:sp>
        <p:nvSpPr>
          <p:cNvPr id="172" name="Google Shape;172;p1"/>
          <p:cNvSpPr txBox="1"/>
          <p:nvPr/>
        </p:nvSpPr>
        <p:spPr>
          <a:xfrm>
            <a:off x="762000" y="64198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71500"/>
            <a:ext cx="2219473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75708"/>
            <a:ext cx="5614392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0" y="952500"/>
            <a:ext cx="4762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9300" y="2381250"/>
            <a:ext cx="17907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"/>
          <p:cNvSpPr txBox="1"/>
          <p:nvPr/>
        </p:nvSpPr>
        <p:spPr>
          <a:xfrm>
            <a:off x="762000" y="1587291"/>
            <a:ext cx="110013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Kenapa hampir semua website modern otomatis rapi, baik di HP maupun laptop?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762000" y="3387227"/>
            <a:ext cx="1120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D9B5"/>
                </a:solidFill>
                <a:latin typeface="Cambria"/>
                <a:ea typeface="Cambria"/>
                <a:cs typeface="Cambria"/>
                <a:sym typeface="Cambria"/>
              </a:rPr>
              <a:t>Tanpa developer bikin desain terpisah untuk masing-masing...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1066800" y="4685258"/>
            <a:ext cx="50047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8D9B5"/>
                </a:solidFill>
                <a:latin typeface="Calibri"/>
                <a:ea typeface="Calibri"/>
                <a:cs typeface="Calibri"/>
                <a:sym typeface="Calibri"/>
              </a:rPr>
              <a:t>Penasaran teknologinya apa? Yuk kita bongkar 👇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762000" y="64198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F8F5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"/>
          <p:cNvPicPr preferRelativeResize="0"/>
          <p:nvPr/>
        </p:nvPicPr>
        <p:blipFill rotWithShape="1">
          <a:blip r:embed="rId3">
            <a:alphaModFix/>
          </a:blip>
          <a:srcRect b="0" l="159" r="169" t="0"/>
          <a:stretch/>
        </p:blipFill>
        <p:spPr>
          <a:xfrm>
            <a:off x="762000" y="476250"/>
            <a:ext cx="1860900" cy="3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"/>
          <p:cNvSpPr txBox="1"/>
          <p:nvPr/>
        </p:nvSpPr>
        <p:spPr>
          <a:xfrm>
            <a:off x="762000" y="1000125"/>
            <a:ext cx="10668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Apa yang kita capai hari ini?</a:t>
            </a:r>
            <a:endParaRPr b="1" sz="296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91" name="Google Shape;191;p3"/>
          <p:cNvGrpSpPr/>
          <p:nvPr/>
        </p:nvGrpSpPr>
        <p:grpSpPr>
          <a:xfrm>
            <a:off x="762000" y="1714500"/>
            <a:ext cx="10668000" cy="4286100"/>
            <a:chOff x="762000" y="1714500"/>
            <a:chExt cx="10668000" cy="4286100"/>
          </a:xfrm>
        </p:grpSpPr>
        <p:grpSp>
          <p:nvGrpSpPr>
            <p:cNvPr id="192" name="Google Shape;192;p3"/>
            <p:cNvGrpSpPr/>
            <p:nvPr/>
          </p:nvGrpSpPr>
          <p:grpSpPr>
            <a:xfrm>
              <a:off x="762000" y="1714500"/>
              <a:ext cx="5143500" cy="2000100"/>
              <a:chOff x="0" y="0"/>
              <a:chExt cx="5143500" cy="2000100"/>
            </a:xfrm>
          </p:grpSpPr>
          <p:sp>
            <p:nvSpPr>
              <p:cNvPr id="193" name="Google Shape;193;p3"/>
              <p:cNvSpPr/>
              <p:nvPr/>
            </p:nvSpPr>
            <p:spPr>
              <a:xfrm>
                <a:off x="0" y="0"/>
                <a:ext cx="5143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0" y="0"/>
                <a:ext cx="762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3"/>
              <p:cNvSpPr txBox="1"/>
              <p:nvPr/>
            </p:nvSpPr>
            <p:spPr>
              <a:xfrm>
                <a:off x="285750" y="0"/>
                <a:ext cx="4572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9A2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r>
                  <a:rPr lang="en-US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8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Box Model CSS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Memahami konsep dasar </a:t>
                </a:r>
                <a:r>
                  <a:rPr b="0" lang="en-US" sz="1500">
                    <a:solidFill>
                      <a:srgbClr val="8A2BE2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box model CSS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(Content, Padding, Border, Margin).</a:t>
                </a:r>
                <a:endParaRPr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" name="Google Shape;196;p3"/>
            <p:cNvGrpSpPr/>
            <p:nvPr/>
          </p:nvGrpSpPr>
          <p:grpSpPr>
            <a:xfrm>
              <a:off x="6286500" y="1714500"/>
              <a:ext cx="5143500" cy="2000100"/>
              <a:chOff x="0" y="0"/>
              <a:chExt cx="5143500" cy="2000100"/>
            </a:xfrm>
          </p:grpSpPr>
          <p:sp>
            <p:nvSpPr>
              <p:cNvPr id="197" name="Google Shape;197;p3"/>
              <p:cNvSpPr/>
              <p:nvPr/>
            </p:nvSpPr>
            <p:spPr>
              <a:xfrm>
                <a:off x="0" y="0"/>
                <a:ext cx="5143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0" y="0"/>
                <a:ext cx="762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3"/>
              <p:cNvSpPr txBox="1"/>
              <p:nvPr/>
            </p:nvSpPr>
            <p:spPr>
              <a:xfrm>
                <a:off x="285750" y="0"/>
                <a:ext cx="4572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9A2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r>
                  <a:rPr lang="en-US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8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Layout Flexbox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Menggunakan </a:t>
                </a:r>
                <a:r>
                  <a:rPr b="0" lang="en-US" sz="15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display: flex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untuk menyusun layout kartu berjajar secara rapi.</a:t>
                </a:r>
                <a:endParaRPr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3"/>
            <p:cNvGrpSpPr/>
            <p:nvPr/>
          </p:nvGrpSpPr>
          <p:grpSpPr>
            <a:xfrm>
              <a:off x="762000" y="4000500"/>
              <a:ext cx="5143500" cy="2000100"/>
              <a:chOff x="0" y="0"/>
              <a:chExt cx="5143500" cy="2000100"/>
            </a:xfrm>
          </p:grpSpPr>
          <p:sp>
            <p:nvSpPr>
              <p:cNvPr id="201" name="Google Shape;201;p3"/>
              <p:cNvSpPr/>
              <p:nvPr/>
            </p:nvSpPr>
            <p:spPr>
              <a:xfrm>
                <a:off x="0" y="0"/>
                <a:ext cx="5143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0" y="0"/>
                <a:ext cx="762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 txBox="1"/>
              <p:nvPr/>
            </p:nvSpPr>
            <p:spPr>
              <a:xfrm>
                <a:off x="285750" y="0"/>
                <a:ext cx="4572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9A2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r>
                  <a:rPr lang="en-US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8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Properti Alignment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Mengatur tata letak presisi dengan </a:t>
                </a:r>
                <a:r>
                  <a:rPr b="0" lang="en-US" sz="15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gap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b="0" lang="en-US" sz="15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justify-content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b="0" lang="en-US" sz="15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align-items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&amp; </a:t>
                </a:r>
                <a:r>
                  <a:rPr b="0" lang="en-US" sz="15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flex-wrap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3"/>
            <p:cNvGrpSpPr/>
            <p:nvPr/>
          </p:nvGrpSpPr>
          <p:grpSpPr>
            <a:xfrm>
              <a:off x="6286500" y="4000500"/>
              <a:ext cx="5143500" cy="2000100"/>
              <a:chOff x="0" y="0"/>
              <a:chExt cx="5143500" cy="2000100"/>
            </a:xfrm>
          </p:grpSpPr>
          <p:sp>
            <p:nvSpPr>
              <p:cNvPr id="205" name="Google Shape;205;p3"/>
              <p:cNvSpPr/>
              <p:nvPr/>
            </p:nvSpPr>
            <p:spPr>
              <a:xfrm>
                <a:off x="0" y="0"/>
                <a:ext cx="5143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0" y="0"/>
                <a:ext cx="762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285750" y="0"/>
                <a:ext cx="4572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9A2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r>
                  <a:rPr lang="en-US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8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Desain Responsif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Menerapkan </a:t>
                </a:r>
                <a:r>
                  <a:rPr b="0" lang="en-US" sz="1500">
                    <a:solidFill>
                      <a:srgbClr val="067D17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media query</a:t>
                </a:r>
                <a:r>
                  <a:rPr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dasar agar layout beradaptasi di berbagai layar.</a:t>
                </a:r>
                <a:endParaRPr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3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4"/>
          <p:cNvGrpSpPr/>
          <p:nvPr/>
        </p:nvGrpSpPr>
        <p:grpSpPr>
          <a:xfrm>
            <a:off x="762000" y="476250"/>
            <a:ext cx="10668000" cy="1304850"/>
            <a:chOff x="762000" y="476250"/>
            <a:chExt cx="10668000" cy="1304850"/>
          </a:xfrm>
        </p:grpSpPr>
        <p:pic>
          <p:nvPicPr>
            <p:cNvPr id="214" name="Google Shape;214;p4"/>
            <p:cNvPicPr preferRelativeResize="0"/>
            <p:nvPr/>
          </p:nvPicPr>
          <p:blipFill rotWithShape="1">
            <a:blip r:embed="rId4">
              <a:alphaModFix/>
            </a:blip>
            <a:srcRect b="0" l="110" r="100" t="0"/>
            <a:stretch/>
          </p:blipFill>
          <p:spPr>
            <a:xfrm>
              <a:off x="762000" y="476250"/>
              <a:ext cx="2860800" cy="3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4"/>
            <p:cNvSpPr txBox="1"/>
            <p:nvPr/>
          </p:nvSpPr>
          <p:spPr>
            <a:xfrm>
              <a:off x="762000" y="95250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Box Model: Setiap Elemen adalah Kotak</a:t>
              </a:r>
              <a:endParaRPr b="1" sz="296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16" name="Google Shape;216;p4"/>
            <p:cNvSpPr txBox="1"/>
            <p:nvPr/>
          </p:nvSpPr>
          <p:spPr>
            <a:xfrm>
              <a:off x="762000" y="1447800"/>
              <a:ext cx="10668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Urutan dari dalam ke luar: </a:t>
              </a:r>
              <a:r>
                <a:rPr b="1" lang="en-US" sz="18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Content</a:t>
              </a:r>
              <a:r>
                <a:rPr b="0" lang="en-US" sz="18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 → </a:t>
              </a:r>
              <a:r>
                <a:rPr b="1" lang="en-US" sz="18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Padding</a:t>
              </a:r>
              <a:r>
                <a:rPr b="0" lang="en-US" sz="18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 → </a:t>
              </a:r>
              <a:r>
                <a:rPr b="1" lang="en-US" sz="1800">
                  <a:solidFill>
                    <a:srgbClr val="5A1620"/>
                  </a:solidFill>
                  <a:latin typeface="Calibri"/>
                  <a:ea typeface="Calibri"/>
                  <a:cs typeface="Calibri"/>
                  <a:sym typeface="Calibri"/>
                </a:rPr>
                <a:t>Border</a:t>
              </a:r>
              <a:r>
                <a:rPr b="0" lang="en-US" sz="18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 → </a:t>
              </a:r>
              <a:r>
                <a:rPr b="1" lang="en-US" sz="1800">
                  <a:solidFill>
                    <a:srgbClr val="8C827A"/>
                  </a:solidFill>
                  <a:latin typeface="Calibri"/>
                  <a:ea typeface="Calibri"/>
                  <a:cs typeface="Calibri"/>
                  <a:sym typeface="Calibri"/>
                </a:rPr>
                <a:t>Margin</a:t>
              </a:r>
              <a:endParaRPr b="0" sz="18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4"/>
          <p:cNvGrpSpPr/>
          <p:nvPr/>
        </p:nvGrpSpPr>
        <p:grpSpPr>
          <a:xfrm>
            <a:off x="752475" y="1943100"/>
            <a:ext cx="4972200" cy="3922200"/>
            <a:chOff x="752475" y="1943100"/>
            <a:chExt cx="4972200" cy="3922200"/>
          </a:xfrm>
        </p:grpSpPr>
        <p:pic>
          <p:nvPicPr>
            <p:cNvPr id="218" name="Google Shape;21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52475" y="1943100"/>
              <a:ext cx="4972200" cy="392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4"/>
            <p:cNvSpPr txBox="1"/>
            <p:nvPr/>
          </p:nvSpPr>
          <p:spPr>
            <a:xfrm>
              <a:off x="952500" y="20669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MARGIN</a:t>
              </a:r>
              <a:endParaRPr b="1" sz="13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143000" y="2400300"/>
              <a:ext cx="4191000" cy="3190800"/>
            </a:xfrm>
            <a:prstGeom prst="roundRect">
              <a:avLst>
                <a:gd fmla="val 2985" name="adj"/>
              </a:avLst>
            </a:prstGeom>
            <a:solidFill>
              <a:srgbClr val="E8D9B5"/>
            </a:solidFill>
            <a:ln cap="flat" cmpd="sng" w="5715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 txBox="1"/>
            <p:nvPr/>
          </p:nvSpPr>
          <p:spPr>
            <a:xfrm>
              <a:off x="1333500" y="25146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BORDER</a:t>
              </a:r>
              <a:endParaRPr b="1" sz="13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524000" y="2838450"/>
              <a:ext cx="3429000" cy="2381400"/>
            </a:xfrm>
            <a:prstGeom prst="roundRect">
              <a:avLst>
                <a:gd fmla="val 3200" name="adj"/>
              </a:avLst>
            </a:prstGeom>
            <a:solidFill>
              <a:srgbClr val="FFFD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 txBox="1"/>
            <p:nvPr/>
          </p:nvSpPr>
          <p:spPr>
            <a:xfrm>
              <a:off x="1714500" y="29527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PADDING</a:t>
              </a:r>
              <a:endParaRPr b="1" sz="1300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2000250" y="3333750"/>
              <a:ext cx="2476500" cy="1428900"/>
            </a:xfrm>
            <a:prstGeom prst="roundRect">
              <a:avLst>
                <a:gd fmla="val 4000" name="adj"/>
              </a:avLst>
            </a:prstGeom>
            <a:solidFill>
              <a:srgbClr val="7A1F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2000250" y="333375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CONTENT</a:t>
              </a:r>
              <a:endParaRPr b="1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26" name="Google Shape;226;p4"/>
          <p:cNvGrpSpPr/>
          <p:nvPr/>
        </p:nvGrpSpPr>
        <p:grpSpPr>
          <a:xfrm>
            <a:off x="6096000" y="1952625"/>
            <a:ext cx="5334000" cy="4000575"/>
            <a:chOff x="6096000" y="1952625"/>
            <a:chExt cx="5334000" cy="4000575"/>
          </a:xfrm>
        </p:grpSpPr>
        <p:grpSp>
          <p:nvGrpSpPr>
            <p:cNvPr id="227" name="Google Shape;227;p4"/>
            <p:cNvGrpSpPr/>
            <p:nvPr/>
          </p:nvGrpSpPr>
          <p:grpSpPr>
            <a:xfrm>
              <a:off x="6096000" y="1952625"/>
              <a:ext cx="5334000" cy="1666800"/>
              <a:chOff x="0" y="0"/>
              <a:chExt cx="5334000" cy="1666800"/>
            </a:xfrm>
          </p:grpSpPr>
          <p:sp>
            <p:nvSpPr>
              <p:cNvPr id="228" name="Google Shape;228;p4"/>
              <p:cNvSpPr/>
              <p:nvPr/>
            </p:nvSpPr>
            <p:spPr>
              <a:xfrm>
                <a:off x="0" y="0"/>
                <a:ext cx="53340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0" y="0"/>
                <a:ext cx="53340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09550" lIns="266700" spcFirstLastPara="1" rIns="266700" wrap="square" tIns="2095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40">
                    <a:solidFill>
                      <a:srgbClr val="8A2BE2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.kartu</a:t>
                </a:r>
                <a:r>
                  <a:rPr lang="en-US" sz="1240"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{</a:t>
                </a:r>
                <a:endParaRPr sz="1240"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40">
                    <a:solidFill>
                      <a:srgbClr val="0033B3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margin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lang="en-US" sz="1240"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lang="en-US" sz="1240">
                    <a:solidFill>
                      <a:srgbClr val="067D17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16px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</a:t>
                </a:r>
                <a:endParaRPr sz="1240"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40">
                    <a:solidFill>
                      <a:srgbClr val="0033B3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border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lang="en-US" sz="1240"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lang="en-US" sz="1240">
                    <a:solidFill>
                      <a:srgbClr val="067D17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2px solid #C9A24B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</a:t>
                </a:r>
                <a:endParaRPr sz="1240"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40">
                    <a:solidFill>
                      <a:srgbClr val="0033B3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padding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lang="en-US" sz="1240"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lang="en-US" sz="1240">
                    <a:solidFill>
                      <a:srgbClr val="067D17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20px</a:t>
                </a: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</a:t>
                </a:r>
                <a:endParaRPr sz="1240"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40">
                    <a:solidFill>
                      <a:srgbClr val="2B232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}</a:t>
                </a:r>
                <a:endParaRPr sz="1240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230" name="Google Shape;230;p4"/>
            <p:cNvGrpSpPr/>
            <p:nvPr/>
          </p:nvGrpSpPr>
          <p:grpSpPr>
            <a:xfrm>
              <a:off x="6096000" y="3810000"/>
              <a:ext cx="5334000" cy="2143200"/>
              <a:chOff x="0" y="0"/>
              <a:chExt cx="5334000" cy="2143200"/>
            </a:xfrm>
          </p:grpSpPr>
          <p:sp>
            <p:nvSpPr>
              <p:cNvPr id="231" name="Google Shape;231;p4"/>
              <p:cNvSpPr/>
              <p:nvPr/>
            </p:nvSpPr>
            <p:spPr>
              <a:xfrm>
                <a:off x="0" y="0"/>
                <a:ext cx="5334000" cy="21432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8E2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0" y="0"/>
                <a:ext cx="5334000" cy="214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228600" spcFirstLastPara="1" rIns="2286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7A1F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 Content:</a:t>
                </a:r>
                <a:r>
                  <a:rPr lang="en-US" sz="14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Area utama tempat teks, gambar, atau elemen berada.</a:t>
                </a:r>
                <a:endParaRPr sz="14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C9A2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2. Padding:</a:t>
                </a:r>
                <a:r>
                  <a:rPr lang="en-US" sz="14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Ruang transparan di antara konten dan garis tepi (border).</a:t>
                </a:r>
                <a:endParaRPr sz="14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5A16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3. Border:</a:t>
                </a:r>
                <a:r>
                  <a:rPr lang="en-US" sz="14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Garis tepi yang mengelilingi padding dan konten.</a:t>
                </a:r>
                <a:endParaRPr sz="14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8C827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4. Margin:</a:t>
                </a:r>
                <a:r>
                  <a:rPr lang="en-US" sz="14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Ruang kosong di luar border untuk memberi jarak antar elemen.</a:t>
                </a:r>
                <a:endParaRPr sz="14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3" name="Google Shape;233;p4"/>
          <p:cNvSpPr txBox="1"/>
          <p:nvPr/>
        </p:nvSpPr>
        <p:spPr>
          <a:xfrm>
            <a:off x="762000" y="64198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4</a:t>
            </a:r>
            <a:endParaRPr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71500"/>
            <a:ext cx="3378696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"/>
          <p:cNvSpPr txBox="1"/>
          <p:nvPr/>
        </p:nvSpPr>
        <p:spPr>
          <a:xfrm>
            <a:off x="762000" y="1152525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Yuk terapkan bareng ke kartu dashboard</a:t>
            </a:r>
            <a:endParaRPr/>
          </a:p>
        </p:txBody>
      </p:sp>
      <p:grpSp>
        <p:nvGrpSpPr>
          <p:cNvPr id="240" name="Google Shape;240;p5"/>
          <p:cNvGrpSpPr/>
          <p:nvPr/>
        </p:nvGrpSpPr>
        <p:grpSpPr>
          <a:xfrm>
            <a:off x="762000" y="2000250"/>
            <a:ext cx="5143500" cy="4000500"/>
            <a:chOff x="0" y="0"/>
            <a:chExt cx="5143500" cy="4000500"/>
          </a:xfrm>
        </p:grpSpPr>
        <p:sp>
          <p:nvSpPr>
            <p:cNvPr id="241" name="Google Shape;241;p5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0" y="0"/>
              <a:ext cx="5143500" cy="400200"/>
            </a:xfrm>
            <a:prstGeom prst="roundRect">
              <a:avLst>
                <a:gd fmla="val 38095" name="adj"/>
              </a:avLst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0" y="209550"/>
              <a:ext cx="5143500" cy="190500"/>
            </a:xfrm>
            <a:prstGeom prst="rect">
              <a:avLst/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 txBox="1"/>
            <p:nvPr/>
          </p:nvSpPr>
          <p:spPr>
            <a:xfrm>
              <a:off x="723900" y="95250"/>
              <a:ext cx="19050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B5F58"/>
                  </a:solidFill>
                  <a:latin typeface="Fira Code"/>
                  <a:ea typeface="Fira Code"/>
                  <a:cs typeface="Fira Code"/>
                  <a:sym typeface="Fira Code"/>
                </a:rPr>
                <a:t>styles.css</a:t>
              </a:r>
              <a:endParaRPr b="0" i="0" sz="1100" u="none" strike="noStrike">
                <a:solidFill>
                  <a:srgbClr val="6B5F5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48" name="Google Shape;248;p5"/>
            <p:cNvSpPr txBox="1"/>
            <p:nvPr/>
          </p:nvSpPr>
          <p:spPr>
            <a:xfrm>
              <a:off x="285750" y="619125"/>
              <a:ext cx="4572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.kartu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margin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lang="en-US" sz="16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16px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border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lang="en-US" sz="16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2px solid #C9A24B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padding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lang="en-US" sz="16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20px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background-color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lang="en-US" sz="16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#FAF8F5</a:t>
              </a: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16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49" name="Google Shape;249;p5"/>
          <p:cNvGrpSpPr/>
          <p:nvPr/>
        </p:nvGrpSpPr>
        <p:grpSpPr>
          <a:xfrm>
            <a:off x="6286500" y="2000250"/>
            <a:ext cx="5143500" cy="4000500"/>
            <a:chOff x="0" y="0"/>
            <a:chExt cx="5143500" cy="4000500"/>
          </a:xfrm>
        </p:grpSpPr>
        <p:sp>
          <p:nvSpPr>
            <p:cNvPr id="250" name="Google Shape;250;p5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0" y="0"/>
              <a:ext cx="5143500" cy="400200"/>
            </a:xfrm>
            <a:prstGeom prst="roundRect">
              <a:avLst>
                <a:gd fmla="val 38095" name="adj"/>
              </a:avLst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0" y="209550"/>
              <a:ext cx="5143500" cy="190500"/>
            </a:xfrm>
            <a:prstGeom prst="rect">
              <a:avLst/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 txBox="1"/>
            <p:nvPr/>
          </p:nvSpPr>
          <p:spPr>
            <a:xfrm>
              <a:off x="228600" y="95250"/>
              <a:ext cx="2857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HASIL VISUAL (PREVIEW)</a:t>
              </a:r>
              <a:endParaRPr b="1" sz="11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4" name="Google Shape;25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275" y="581025"/>
              <a:ext cx="4553100" cy="312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5" name="Google Shape;255;p5"/>
            <p:cNvGrpSpPr/>
            <p:nvPr/>
          </p:nvGrpSpPr>
          <p:grpSpPr>
            <a:xfrm>
              <a:off x="647700" y="933450"/>
              <a:ext cx="3848100" cy="2419500"/>
              <a:chOff x="0" y="0"/>
              <a:chExt cx="3848100" cy="2419500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0" y="0"/>
                <a:ext cx="3848100" cy="2419500"/>
              </a:xfrm>
              <a:prstGeom prst="roundRect">
                <a:avLst>
                  <a:gd fmla="val 4724" name="adj"/>
                </a:avLst>
              </a:prstGeom>
              <a:solidFill>
                <a:srgbClr val="FAF8F5"/>
              </a:solidFill>
              <a:ln cap="flat" cmpd="sng" w="19050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5"/>
              <p:cNvSpPr txBox="1"/>
              <p:nvPr/>
            </p:nvSpPr>
            <p:spPr>
              <a:xfrm>
                <a:off x="190500" y="190500"/>
                <a:ext cx="3467100" cy="20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27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Mini Dashboard Suhu</a:t>
                </a:r>
                <a:endParaRPr b="1" sz="27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900">
                    <a:solidFill>
                      <a:srgbClr val="7A1F2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Selamat Datang Di Project Saya</a:t>
                </a:r>
                <a:endParaRPr b="1" sz="19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sp>
        <p:nvSpPr>
          <p:cNvPr id="258" name="Google Shape;258;p5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g409df21f349_0_2612"/>
          <p:cNvGrpSpPr/>
          <p:nvPr/>
        </p:nvGrpSpPr>
        <p:grpSpPr>
          <a:xfrm>
            <a:off x="863650" y="805175"/>
            <a:ext cx="10464698" cy="4930641"/>
            <a:chOff x="0" y="0"/>
            <a:chExt cx="4953000" cy="2333700"/>
          </a:xfrm>
        </p:grpSpPr>
        <p:sp>
          <p:nvSpPr>
            <p:cNvPr id="264" name="Google Shape;264;g409df21f349_0_2612"/>
            <p:cNvSpPr/>
            <p:nvPr/>
          </p:nvSpPr>
          <p:spPr>
            <a:xfrm>
              <a:off x="0" y="0"/>
              <a:ext cx="4953000" cy="2333700"/>
            </a:xfrm>
            <a:prstGeom prst="roundRect">
              <a:avLst>
                <a:gd fmla="val 4896" name="adj"/>
              </a:avLst>
            </a:prstGeom>
            <a:solidFill>
              <a:srgbClr val="FFFFFF"/>
            </a:solidFill>
            <a:ln cap="flat" cmpd="sng" w="302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g409df21f349_0_2612"/>
            <p:cNvSpPr txBox="1"/>
            <p:nvPr/>
          </p:nvSpPr>
          <p:spPr>
            <a:xfrm>
              <a:off x="285750" y="228600"/>
              <a:ext cx="43815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71">
                  <a:solidFill>
                    <a:srgbClr val="7A1F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4226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Diskusi Live Coding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901"/>
                </a:spcBef>
                <a:spcAft>
                  <a:spcPts val="0"/>
                </a:spcAft>
                <a:buNone/>
              </a:pP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Apa perbedaan </a:t>
              </a:r>
              <a:r>
                <a:rPr b="1" lang="en-US" sz="338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margin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dengan </a:t>
              </a:r>
              <a:r>
                <a:rPr b="1" lang="en-US" sz="338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padding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?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g409df21f349_0_2612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9</a:t>
            </a:r>
            <a:endParaRPr b="0" i="0"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6"/>
          <p:cNvGrpSpPr/>
          <p:nvPr/>
        </p:nvGrpSpPr>
        <p:grpSpPr>
          <a:xfrm>
            <a:off x="762000" y="476250"/>
            <a:ext cx="2667000" cy="324000"/>
            <a:chOff x="0" y="0"/>
            <a:chExt cx="2667000" cy="324000"/>
          </a:xfrm>
        </p:grpSpPr>
        <p:sp>
          <p:nvSpPr>
            <p:cNvPr id="272" name="Google Shape;272;p6"/>
            <p:cNvSpPr/>
            <p:nvPr/>
          </p:nvSpPr>
          <p:spPr>
            <a:xfrm>
              <a:off x="0" y="0"/>
              <a:ext cx="2667000" cy="324000"/>
            </a:xfrm>
            <a:prstGeom prst="roundRect">
              <a:avLst>
                <a:gd fmla="val 50000" name="adj"/>
              </a:avLst>
            </a:prstGeom>
            <a:solidFill>
              <a:srgbClr val="22C55E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6"/>
            <p:cNvSpPr txBox="1"/>
            <p:nvPr/>
          </p:nvSpPr>
          <p:spPr>
            <a:xfrm>
              <a:off x="0" y="0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TOPIK 1 DARI 3 — CHALLENGE 🟢</a:t>
              </a:r>
              <a:endParaRPr b="1" sz="12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6"/>
          <p:cNvSpPr txBox="1"/>
          <p:nvPr/>
        </p:nvSpPr>
        <p:spPr>
          <a:xfrm>
            <a:off x="762000" y="914400"/>
            <a:ext cx="10668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Lengkapi Box Model Untuk Form (+10)</a:t>
            </a:r>
            <a:endParaRPr b="1" sz="32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75" name="Google Shape;275;p6"/>
          <p:cNvGrpSpPr/>
          <p:nvPr/>
        </p:nvGrpSpPr>
        <p:grpSpPr>
          <a:xfrm>
            <a:off x="762000" y="1619250"/>
            <a:ext cx="5143500" cy="4476900"/>
            <a:chOff x="0" y="0"/>
            <a:chExt cx="5143500" cy="4476900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51435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381000" y="26670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Instruksi:</a:t>
              </a:r>
              <a:endParaRPr b="1" sz="22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278" name="Google Shape;278;p6"/>
            <p:cNvGrpSpPr/>
            <p:nvPr/>
          </p:nvGrpSpPr>
          <p:grpSpPr>
            <a:xfrm>
              <a:off x="342900" y="809625"/>
              <a:ext cx="4381500" cy="571500"/>
              <a:chOff x="0" y="0"/>
              <a:chExt cx="4381500" cy="571500"/>
            </a:xfrm>
          </p:grpSpPr>
          <p:sp>
            <p:nvSpPr>
              <p:cNvPr id="279" name="Google Shape;279;p6"/>
              <p:cNvSpPr/>
              <p:nvPr/>
            </p:nvSpPr>
            <p:spPr>
              <a:xfrm>
                <a:off x="0" y="0"/>
                <a:ext cx="419100" cy="419100"/>
              </a:xfrm>
              <a:prstGeom prst="ellipse">
                <a:avLst/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 txBox="1"/>
              <p:nvPr/>
            </p:nvSpPr>
            <p:spPr>
              <a:xfrm>
                <a:off x="0" y="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6"/>
              <p:cNvSpPr txBox="1"/>
              <p:nvPr/>
            </p:nvSpPr>
            <p:spPr>
              <a:xfrm>
                <a:off x="571500" y="0"/>
                <a:ext cx="3810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Panggil </a:t>
                </a:r>
                <a:r>
                  <a:rPr b="0" lang="en-US" sz="1500">
                    <a:solidFill>
                      <a:srgbClr val="8A2BE2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&lt;div&gt;</a:t>
                </a: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dengan class </a:t>
                </a:r>
                <a:r>
                  <a:rPr b="1" lang="en-US" sz="1500">
                    <a:solidFill>
                      <a:srgbClr val="0033B3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kartu</a:t>
                </a: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(class kartu reusable)</a:t>
                </a:r>
                <a:endParaRPr b="0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82" name="Google Shape;282;p6"/>
            <p:cNvCxnSpPr/>
            <p:nvPr/>
          </p:nvCxnSpPr>
          <p:spPr>
            <a:xfrm>
              <a:off x="342900" y="1619250"/>
              <a:ext cx="445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EF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83" name="Google Shape;283;p6"/>
            <p:cNvGrpSpPr/>
            <p:nvPr/>
          </p:nvGrpSpPr>
          <p:grpSpPr>
            <a:xfrm>
              <a:off x="342900" y="1809750"/>
              <a:ext cx="4381500" cy="714300"/>
              <a:chOff x="0" y="-47625"/>
              <a:chExt cx="4381500" cy="714300"/>
            </a:xfrm>
          </p:grpSpPr>
          <p:sp>
            <p:nvSpPr>
              <p:cNvPr id="284" name="Google Shape;284;p6"/>
              <p:cNvSpPr/>
              <p:nvPr/>
            </p:nvSpPr>
            <p:spPr>
              <a:xfrm>
                <a:off x="0" y="0"/>
                <a:ext cx="419100" cy="419100"/>
              </a:xfrm>
              <a:prstGeom prst="ellipse">
                <a:avLst/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6"/>
              <p:cNvSpPr txBox="1"/>
              <p:nvPr/>
            </p:nvSpPr>
            <p:spPr>
              <a:xfrm>
                <a:off x="0" y="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6"/>
              <p:cNvSpPr txBox="1"/>
              <p:nvPr/>
            </p:nvSpPr>
            <p:spPr>
              <a:xfrm>
                <a:off x="571500" y="-47625"/>
                <a:ext cx="3810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Letakkan </a:t>
                </a:r>
                <a:r>
                  <a:rPr b="0" lang="en-US" sz="1500">
                    <a:solidFill>
                      <a:srgbClr val="8A2BE2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&lt;div&gt;</a:t>
                </a: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diawal label dan diakhir button di setiap blok yang ingin kamu beri kartu</a:t>
                </a:r>
                <a:endParaRPr b="0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87" name="Google Shape;287;p6"/>
            <p:cNvCxnSpPr/>
            <p:nvPr/>
          </p:nvCxnSpPr>
          <p:spPr>
            <a:xfrm>
              <a:off x="342900" y="2809875"/>
              <a:ext cx="445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EF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88" name="Google Shape;288;p6"/>
            <p:cNvGrpSpPr/>
            <p:nvPr/>
          </p:nvGrpSpPr>
          <p:grpSpPr>
            <a:xfrm>
              <a:off x="342900" y="3048000"/>
              <a:ext cx="4381500" cy="476400"/>
              <a:chOff x="0" y="0"/>
              <a:chExt cx="4381500" cy="476400"/>
            </a:xfrm>
          </p:grpSpPr>
          <p:sp>
            <p:nvSpPr>
              <p:cNvPr id="289" name="Google Shape;289;p6"/>
              <p:cNvSpPr/>
              <p:nvPr/>
            </p:nvSpPr>
            <p:spPr>
              <a:xfrm>
                <a:off x="0" y="0"/>
                <a:ext cx="419100" cy="419100"/>
              </a:xfrm>
              <a:prstGeom prst="ellipse">
                <a:avLst/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"/>
              <p:cNvSpPr txBox="1"/>
              <p:nvPr/>
            </p:nvSpPr>
            <p:spPr>
              <a:xfrm>
                <a:off x="0" y="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6"/>
              <p:cNvSpPr txBox="1"/>
              <p:nvPr/>
            </p:nvSpPr>
            <p:spPr>
              <a:xfrm>
                <a:off x="571500" y="0"/>
                <a:ext cx="381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Simpan dan cek hasilnya di browser.</a:t>
                </a:r>
                <a:endParaRPr b="0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2" name="Google Shape;292;p6"/>
          <p:cNvSpPr txBox="1"/>
          <p:nvPr/>
        </p:nvSpPr>
        <p:spPr>
          <a:xfrm>
            <a:off x="762000" y="6419850"/>
            <a:ext cx="1066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6</a:t>
            </a:r>
            <a:endParaRPr b="0"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6"/>
          <p:cNvGrpSpPr/>
          <p:nvPr/>
        </p:nvGrpSpPr>
        <p:grpSpPr>
          <a:xfrm>
            <a:off x="6096000" y="1619250"/>
            <a:ext cx="5334000" cy="4476900"/>
            <a:chOff x="0" y="0"/>
            <a:chExt cx="5334000" cy="4476900"/>
          </a:xfrm>
        </p:grpSpPr>
        <p:sp>
          <p:nvSpPr>
            <p:cNvPr id="294" name="Google Shape;294;p6"/>
            <p:cNvSpPr/>
            <p:nvPr/>
          </p:nvSpPr>
          <p:spPr>
            <a:xfrm>
              <a:off x="0" y="0"/>
              <a:ext cx="53340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0" y="0"/>
              <a:ext cx="5334000" cy="400200"/>
            </a:xfrm>
            <a:custGeom>
              <a:rect b="b" l="l" r="r" t="t"/>
              <a:pathLst>
                <a:path extrusionOk="0" h="120000" w="120000">
                  <a:moveTo>
                    <a:pt x="0" y="45714"/>
                  </a:moveTo>
                  <a:cubicBezTo>
                    <a:pt x="0" y="20467"/>
                    <a:pt x="1535" y="0"/>
                    <a:pt x="3429" y="0"/>
                  </a:cubicBezTo>
                  <a:lnTo>
                    <a:pt x="116571" y="0"/>
                  </a:lnTo>
                  <a:cubicBezTo>
                    <a:pt x="117480" y="-2"/>
                    <a:pt x="118353" y="4814"/>
                    <a:pt x="118996" y="13387"/>
                  </a:cubicBezTo>
                  <a:cubicBezTo>
                    <a:pt x="119639" y="21961"/>
                    <a:pt x="120000" y="33589"/>
                    <a:pt x="120000" y="45714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 txBox="1"/>
            <p:nvPr/>
          </p:nvSpPr>
          <p:spPr>
            <a:xfrm>
              <a:off x="762000" y="95250"/>
              <a:ext cx="381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 b="1" sz="11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0" name="Google Shape;300;p6"/>
          <p:cNvPicPr preferRelativeResize="0"/>
          <p:nvPr/>
        </p:nvPicPr>
        <p:blipFill rotWithShape="1">
          <a:blip r:embed="rId4">
            <a:alphaModFix/>
          </a:blip>
          <a:srcRect b="20" l="0" r="0" t="20"/>
          <a:stretch/>
        </p:blipFill>
        <p:spPr>
          <a:xfrm>
            <a:off x="6286500" y="2238375"/>
            <a:ext cx="4762500" cy="36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71500"/>
            <a:ext cx="2860923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 txBox="1"/>
          <p:nvPr/>
        </p:nvSpPr>
        <p:spPr>
          <a:xfrm>
            <a:off x="762000" y="1095375"/>
            <a:ext cx="10668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Mengaktifkan Flexbox: </a:t>
            </a:r>
            <a:r>
              <a:rPr b="1" lang="en-US" sz="3000">
                <a:solidFill>
                  <a:srgbClr val="8A2BE2"/>
                </a:solidFill>
                <a:latin typeface="Fira Code"/>
                <a:ea typeface="Fira Code"/>
                <a:cs typeface="Fira Code"/>
                <a:sym typeface="Fira Code"/>
              </a:rPr>
              <a:t>display: flex</a:t>
            </a:r>
            <a:endParaRPr b="1" sz="34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07" name="Google Shape;307;p7"/>
          <p:cNvGrpSpPr/>
          <p:nvPr/>
        </p:nvGrpSpPr>
        <p:grpSpPr>
          <a:xfrm>
            <a:off x="762000" y="1857375"/>
            <a:ext cx="5143500" cy="4286400"/>
            <a:chOff x="0" y="0"/>
            <a:chExt cx="5143500" cy="4286400"/>
          </a:xfrm>
        </p:grpSpPr>
        <p:sp>
          <p:nvSpPr>
            <p:cNvPr id="308" name="Google Shape;308;p7"/>
            <p:cNvSpPr/>
            <p:nvPr/>
          </p:nvSpPr>
          <p:spPr>
            <a:xfrm>
              <a:off x="0" y="0"/>
              <a:ext cx="5143500" cy="42864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0" y="0"/>
              <a:ext cx="5143500" cy="400200"/>
            </a:xfrm>
            <a:prstGeom prst="roundRect">
              <a:avLst>
                <a:gd fmla="val 38095" name="adj"/>
              </a:avLst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0" y="209550"/>
              <a:ext cx="5143500" cy="190500"/>
            </a:xfrm>
            <a:prstGeom prst="rect">
              <a:avLst/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33350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285750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438150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 txBox="1"/>
            <p:nvPr/>
          </p:nvSpPr>
          <p:spPr>
            <a:xfrm>
              <a:off x="723900" y="95250"/>
              <a:ext cx="3695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5F5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HASIL VISUAL (PREVIEW)</a:t>
              </a:r>
              <a:endParaRPr b="0" sz="1100">
                <a:solidFill>
                  <a:srgbClr val="6B5F5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grpSp>
          <p:nvGrpSpPr>
            <p:cNvPr id="315" name="Google Shape;315;p7"/>
            <p:cNvGrpSpPr/>
            <p:nvPr/>
          </p:nvGrpSpPr>
          <p:grpSpPr>
            <a:xfrm>
              <a:off x="238125" y="523875"/>
              <a:ext cx="4667400" cy="1609650"/>
              <a:chOff x="0" y="0"/>
              <a:chExt cx="4667400" cy="1609650"/>
            </a:xfrm>
          </p:grpSpPr>
          <p:sp>
            <p:nvSpPr>
              <p:cNvPr id="316" name="Google Shape;316;p7"/>
              <p:cNvSpPr/>
              <p:nvPr/>
            </p:nvSpPr>
            <p:spPr>
              <a:xfrm>
                <a:off x="0" y="0"/>
                <a:ext cx="1143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7A1F2B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7"/>
              <p:cNvSpPr txBox="1"/>
              <p:nvPr/>
            </p:nvSpPr>
            <p:spPr>
              <a:xfrm>
                <a:off x="0" y="0"/>
                <a:ext cx="1143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7A1F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TANPA FLEX</a:t>
                </a:r>
                <a:endParaRPr b="1" sz="10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7"/>
              <p:cNvSpPr/>
              <p:nvPr/>
            </p:nvSpPr>
            <p:spPr>
              <a:xfrm>
                <a:off x="0" y="323850"/>
                <a:ext cx="4667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F4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9" name="Google Shape;319;p7"/>
              <p:cNvGrpSpPr/>
              <p:nvPr/>
            </p:nvGrpSpPr>
            <p:grpSpPr>
              <a:xfrm>
                <a:off x="142875" y="400050"/>
                <a:ext cx="4381500" cy="1009650"/>
                <a:chOff x="0" y="0"/>
                <a:chExt cx="4381500" cy="1009650"/>
              </a:xfrm>
            </p:grpSpPr>
            <p:sp>
              <p:nvSpPr>
                <p:cNvPr id="320" name="Google Shape;320;p7"/>
                <p:cNvSpPr/>
                <p:nvPr/>
              </p:nvSpPr>
              <p:spPr>
                <a:xfrm>
                  <a:off x="0" y="0"/>
                  <a:ext cx="43815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7"/>
                <p:cNvSpPr txBox="1"/>
                <p:nvPr/>
              </p:nvSpPr>
              <p:spPr>
                <a:xfrm>
                  <a:off x="0" y="0"/>
                  <a:ext cx="4381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1</a:t>
                  </a:r>
                  <a:endParaRPr b="1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7"/>
                <p:cNvSpPr/>
                <p:nvPr/>
              </p:nvSpPr>
              <p:spPr>
                <a:xfrm>
                  <a:off x="0" y="352425"/>
                  <a:ext cx="43815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7"/>
                <p:cNvSpPr txBox="1"/>
                <p:nvPr/>
              </p:nvSpPr>
              <p:spPr>
                <a:xfrm>
                  <a:off x="0" y="352425"/>
                  <a:ext cx="4381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2</a:t>
                  </a:r>
                  <a:endParaRPr b="1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>
                  <a:off x="0" y="704850"/>
                  <a:ext cx="43815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 txBox="1"/>
                <p:nvPr/>
              </p:nvSpPr>
              <p:spPr>
                <a:xfrm>
                  <a:off x="0" y="704850"/>
                  <a:ext cx="4381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3</a:t>
                  </a:r>
                  <a:endParaRPr b="1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6" name="Google Shape;326;p7"/>
            <p:cNvGrpSpPr/>
            <p:nvPr/>
          </p:nvGrpSpPr>
          <p:grpSpPr>
            <a:xfrm>
              <a:off x="238125" y="2286000"/>
              <a:ext cx="4667400" cy="1609650"/>
              <a:chOff x="0" y="0"/>
              <a:chExt cx="4667400" cy="160965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0" y="0"/>
                <a:ext cx="12384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7"/>
              <p:cNvSpPr txBox="1"/>
              <p:nvPr/>
            </p:nvSpPr>
            <p:spPr>
              <a:xfrm>
                <a:off x="0" y="0"/>
                <a:ext cx="12384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DENGAN FLEX</a:t>
                </a:r>
                <a:endPara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0" y="323850"/>
                <a:ext cx="4667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F4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0" name="Google Shape;330;p7"/>
              <p:cNvGrpSpPr/>
              <p:nvPr/>
            </p:nvGrpSpPr>
            <p:grpSpPr>
              <a:xfrm>
                <a:off x="142875" y="466725"/>
                <a:ext cx="4381500" cy="1000200"/>
                <a:chOff x="0" y="0"/>
                <a:chExt cx="4381500" cy="1000200"/>
              </a:xfrm>
            </p:grpSpPr>
            <p:sp>
              <p:nvSpPr>
                <p:cNvPr id="331" name="Google Shape;331;p7"/>
                <p:cNvSpPr/>
                <p:nvPr/>
              </p:nvSpPr>
              <p:spPr>
                <a:xfrm>
                  <a:off x="0" y="0"/>
                  <a:ext cx="1333500" cy="1000200"/>
                </a:xfrm>
                <a:prstGeom prst="roundRect">
                  <a:avLst>
                    <a:gd fmla="val 5714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7"/>
                <p:cNvSpPr txBox="1"/>
                <p:nvPr/>
              </p:nvSpPr>
              <p:spPr>
                <a:xfrm>
                  <a:off x="0" y="0"/>
                  <a:ext cx="1333500" cy="10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1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>
                  <a:off x="1524000" y="0"/>
                  <a:ext cx="1333500" cy="1000200"/>
                </a:xfrm>
                <a:prstGeom prst="roundRect">
                  <a:avLst>
                    <a:gd fmla="val 5714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7"/>
                <p:cNvSpPr txBox="1"/>
                <p:nvPr/>
              </p:nvSpPr>
              <p:spPr>
                <a:xfrm>
                  <a:off x="1524000" y="0"/>
                  <a:ext cx="1333500" cy="10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2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7"/>
                <p:cNvSpPr/>
                <p:nvPr/>
              </p:nvSpPr>
              <p:spPr>
                <a:xfrm>
                  <a:off x="3048000" y="0"/>
                  <a:ext cx="1333500" cy="1000200"/>
                </a:xfrm>
                <a:prstGeom prst="roundRect">
                  <a:avLst>
                    <a:gd fmla="val 5714" name="adj"/>
                  </a:avLst>
                </a:prstGeom>
                <a:solidFill>
                  <a:srgbClr val="7A1F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 txBox="1"/>
                <p:nvPr/>
              </p:nvSpPr>
              <p:spPr>
                <a:xfrm>
                  <a:off x="3048000" y="0"/>
                  <a:ext cx="1333500" cy="10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Kotak 3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7" name="Google Shape;337;p7"/>
          <p:cNvGrpSpPr/>
          <p:nvPr/>
        </p:nvGrpSpPr>
        <p:grpSpPr>
          <a:xfrm>
            <a:off x="6286500" y="1857375"/>
            <a:ext cx="5143500" cy="4286400"/>
            <a:chOff x="0" y="0"/>
            <a:chExt cx="5143500" cy="4286400"/>
          </a:xfrm>
        </p:grpSpPr>
        <p:sp>
          <p:nvSpPr>
            <p:cNvPr id="338" name="Google Shape;338;p7"/>
            <p:cNvSpPr/>
            <p:nvPr/>
          </p:nvSpPr>
          <p:spPr>
            <a:xfrm>
              <a:off x="0" y="0"/>
              <a:ext cx="5143500" cy="42864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0" y="0"/>
              <a:ext cx="5143500" cy="400200"/>
            </a:xfrm>
            <a:prstGeom prst="roundRect">
              <a:avLst>
                <a:gd fmla="val 38095" name="adj"/>
              </a:avLst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0" y="209550"/>
              <a:ext cx="5143500" cy="190500"/>
            </a:xfrm>
            <a:prstGeom prst="rect">
              <a:avLst/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133350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85750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438150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723900" y="95250"/>
              <a:ext cx="3695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5F58"/>
                  </a:solidFill>
                  <a:latin typeface="Fira Code"/>
                  <a:ea typeface="Fira Code"/>
                  <a:cs typeface="Fira Code"/>
                  <a:sym typeface="Fira Code"/>
                </a:rPr>
                <a:t>styles.css</a:t>
              </a:r>
              <a:endParaRPr b="0" sz="1100">
                <a:solidFill>
                  <a:srgbClr val="6B5F5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345" name="Google Shape;345;p7"/>
            <p:cNvSpPr txBox="1"/>
            <p:nvPr/>
          </p:nvSpPr>
          <p:spPr>
            <a:xfrm>
              <a:off x="333375" y="619125"/>
              <a:ext cx="4476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</a:t>
              </a:r>
              <a:r>
                <a:rPr b="0" lang="en-US" sz="24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b="0" sz="24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display</a:t>
              </a:r>
              <a:r>
                <a:rPr b="0" lang="en-US" sz="24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4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flex</a:t>
              </a:r>
              <a:r>
                <a:rPr b="0" lang="en-US" sz="24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sz="24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sz="24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grpSp>
          <p:nvGrpSpPr>
            <p:cNvPr id="346" name="Google Shape;346;p7"/>
            <p:cNvGrpSpPr/>
            <p:nvPr/>
          </p:nvGrpSpPr>
          <p:grpSpPr>
            <a:xfrm>
              <a:off x="285750" y="2428875"/>
              <a:ext cx="4572000" cy="1524000"/>
              <a:chOff x="0" y="0"/>
              <a:chExt cx="4572000" cy="1524000"/>
            </a:xfrm>
          </p:grpSpPr>
          <p:sp>
            <p:nvSpPr>
              <p:cNvPr id="347" name="Google Shape;347;p7"/>
              <p:cNvSpPr/>
              <p:nvPr/>
            </p:nvSpPr>
            <p:spPr>
              <a:xfrm>
                <a:off x="0" y="0"/>
                <a:ext cx="45720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FAF8F5"/>
              </a:solidFill>
              <a:ln cap="flat" cmpd="sng" w="9525">
                <a:solidFill>
                  <a:srgbClr val="C9A2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 txBox="1"/>
              <p:nvPr/>
            </p:nvSpPr>
            <p:spPr>
              <a:xfrm>
                <a:off x="238125" y="190500"/>
                <a:ext cx="4095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7A1F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💡 Konsep Utama:</a:t>
                </a:r>
                <a:endParaRPr b="1" sz="17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450"/>
                  </a:spcAft>
                  <a:buNone/>
                </a:pPr>
                <a:r>
                  <a:rPr b="0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Secara default, </a:t>
                </a:r>
                <a:r>
                  <a:rPr b="0" lang="en-US" sz="1600">
                    <a:solidFill>
                      <a:srgbClr val="0033B3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display: flex</a:t>
                </a:r>
                <a:r>
                  <a:rPr b="0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akan mengubah susunan elemen anak (child elements) dari </a:t>
                </a:r>
                <a:r>
                  <a:rPr b="1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vertikal (kebawah)</a:t>
                </a:r>
                <a:r>
                  <a:rPr b="0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menjadi </a:t>
                </a:r>
                <a:r>
                  <a:rPr b="1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horizontal (ke samping)</a:t>
                </a:r>
                <a:r>
                  <a:rPr b="0" lang="en-US" sz="16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b="0" sz="16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9" name="Google Shape;349;p7"/>
          <p:cNvSpPr txBox="1"/>
          <p:nvPr/>
        </p:nvSpPr>
        <p:spPr>
          <a:xfrm>
            <a:off x="762000" y="6419850"/>
            <a:ext cx="10668000" cy="14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7</a:t>
            </a:r>
            <a:endParaRPr b="0" sz="971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8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>
            <a:off x="762000" y="476250"/>
            <a:ext cx="4038900" cy="3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8"/>
          <p:cNvSpPr txBox="1"/>
          <p:nvPr/>
        </p:nvSpPr>
        <p:spPr>
          <a:xfrm>
            <a:off x="762000" y="9715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4 Properti Flexbox yang Sering Dipakai</a:t>
            </a:r>
            <a:endParaRPr b="1" sz="32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56" name="Google Shape;356;p8"/>
          <p:cNvGrpSpPr/>
          <p:nvPr/>
        </p:nvGrpSpPr>
        <p:grpSpPr>
          <a:xfrm>
            <a:off x="762000" y="1762125"/>
            <a:ext cx="4953000" cy="4191000"/>
            <a:chOff x="0" y="0"/>
            <a:chExt cx="4953000" cy="4191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0"/>
              <a:ext cx="49530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0"/>
              <a:ext cx="4953000" cy="400200"/>
            </a:xfrm>
            <a:prstGeom prst="roundRect">
              <a:avLst>
                <a:gd fmla="val 38095" name="adj"/>
              </a:avLst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209550"/>
              <a:ext cx="4953000" cy="190500"/>
            </a:xfrm>
            <a:prstGeom prst="rect">
              <a:avLst/>
            </a:pr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123825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276225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428625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762000" y="95250"/>
              <a:ext cx="3429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5F5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styles.css</a:t>
              </a:r>
              <a:endParaRPr b="0" sz="1100">
                <a:solidFill>
                  <a:srgbClr val="6B5F5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304800" y="619125"/>
              <a:ext cx="4343400" cy="3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 </a:t>
              </a:r>
              <a:r>
                <a:rPr b="0"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{</a:t>
              </a:r>
              <a:endParaRPr b="1" sz="2300">
                <a:solidFill>
                  <a:srgbClr val="8A2BE2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45720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display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3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flex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300"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gap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3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16px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300"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justify-content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3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center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300"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align-items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3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center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300"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flex-wrap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3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wrap</a:t>
              </a:r>
              <a:r>
                <a:rPr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300"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sz="23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365" name="Google Shape;365;p8"/>
          <p:cNvGrpSpPr/>
          <p:nvPr/>
        </p:nvGrpSpPr>
        <p:grpSpPr>
          <a:xfrm>
            <a:off x="6048375" y="1762125"/>
            <a:ext cx="5381700" cy="904800"/>
            <a:chOff x="0" y="0"/>
            <a:chExt cx="5381700" cy="904800"/>
          </a:xfrm>
        </p:grpSpPr>
        <p:sp>
          <p:nvSpPr>
            <p:cNvPr id="366" name="Google Shape;366;p8"/>
            <p:cNvSpPr/>
            <p:nvPr/>
          </p:nvSpPr>
          <p:spPr>
            <a:xfrm>
              <a:off x="0" y="0"/>
              <a:ext cx="5381700" cy="904800"/>
            </a:xfrm>
            <a:prstGeom prst="roundRect">
              <a:avLst>
                <a:gd fmla="val 14736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8"/>
            <p:cNvSpPr txBox="1"/>
            <p:nvPr/>
          </p:nvSpPr>
          <p:spPr>
            <a:xfrm>
              <a:off x="228600" y="0"/>
              <a:ext cx="4924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8A2BE2"/>
                  </a:solidFill>
                  <a:highlight>
                    <a:srgbClr val="F4EFEA"/>
                  </a:highlight>
                  <a:latin typeface="Fira Code"/>
                  <a:ea typeface="Fira Code"/>
                  <a:cs typeface="Fira Code"/>
                  <a:sym typeface="Fira Code"/>
                </a:rPr>
                <a:t>gap</a:t>
              </a:r>
              <a:r>
                <a:rPr b="1" lang="en-US" sz="15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→ </a:t>
              </a:r>
              <a:r>
                <a:rPr b="0" lang="en-US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jarak antar elemen</a:t>
              </a:r>
              <a:endParaRPr sz="15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8"/>
          <p:cNvGrpSpPr/>
          <p:nvPr/>
        </p:nvGrpSpPr>
        <p:grpSpPr>
          <a:xfrm>
            <a:off x="6048375" y="2857500"/>
            <a:ext cx="5381700" cy="904800"/>
            <a:chOff x="0" y="0"/>
            <a:chExt cx="5381700" cy="904800"/>
          </a:xfrm>
        </p:grpSpPr>
        <p:sp>
          <p:nvSpPr>
            <p:cNvPr id="369" name="Google Shape;369;p8"/>
            <p:cNvSpPr/>
            <p:nvPr/>
          </p:nvSpPr>
          <p:spPr>
            <a:xfrm>
              <a:off x="0" y="0"/>
              <a:ext cx="5381700" cy="904800"/>
            </a:xfrm>
            <a:prstGeom prst="roundRect">
              <a:avLst>
                <a:gd fmla="val 14736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8"/>
            <p:cNvSpPr txBox="1"/>
            <p:nvPr/>
          </p:nvSpPr>
          <p:spPr>
            <a:xfrm>
              <a:off x="228600" y="0"/>
              <a:ext cx="4924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8A2BE2"/>
                  </a:solidFill>
                  <a:highlight>
                    <a:srgbClr val="F4EFEA"/>
                  </a:highlight>
                  <a:latin typeface="Fira Code"/>
                  <a:ea typeface="Fira Code"/>
                  <a:cs typeface="Fira Code"/>
                  <a:sym typeface="Fira Code"/>
                </a:rPr>
                <a:t>justify-content</a:t>
              </a:r>
              <a:r>
                <a:rPr b="1" lang="en-US" sz="15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→ </a:t>
              </a:r>
              <a:r>
                <a:rPr b="0" lang="en-US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perataan horizontal</a:t>
              </a:r>
              <a:endParaRPr sz="15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8"/>
          <p:cNvGrpSpPr/>
          <p:nvPr/>
        </p:nvGrpSpPr>
        <p:grpSpPr>
          <a:xfrm>
            <a:off x="6048375" y="3952875"/>
            <a:ext cx="5381700" cy="904800"/>
            <a:chOff x="0" y="0"/>
            <a:chExt cx="5381700" cy="904800"/>
          </a:xfrm>
        </p:grpSpPr>
        <p:sp>
          <p:nvSpPr>
            <p:cNvPr id="372" name="Google Shape;372;p8"/>
            <p:cNvSpPr/>
            <p:nvPr/>
          </p:nvSpPr>
          <p:spPr>
            <a:xfrm>
              <a:off x="0" y="0"/>
              <a:ext cx="5381700" cy="904800"/>
            </a:xfrm>
            <a:prstGeom prst="roundRect">
              <a:avLst>
                <a:gd fmla="val 14736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228600" y="0"/>
              <a:ext cx="4924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8A2BE2"/>
                  </a:solidFill>
                  <a:highlight>
                    <a:srgbClr val="F4EFEA"/>
                  </a:highlight>
                  <a:latin typeface="Fira Code"/>
                  <a:ea typeface="Fira Code"/>
                  <a:cs typeface="Fira Code"/>
                  <a:sym typeface="Fira Code"/>
                </a:rPr>
                <a:t>align-items</a:t>
              </a:r>
              <a:r>
                <a:rPr b="1" lang="en-US" sz="15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→ </a:t>
              </a:r>
              <a:r>
                <a:rPr b="0" lang="en-US" sz="15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perataan vertikal</a:t>
              </a:r>
              <a:endParaRPr sz="15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8"/>
          <p:cNvGrpSpPr/>
          <p:nvPr/>
        </p:nvGrpSpPr>
        <p:grpSpPr>
          <a:xfrm>
            <a:off x="6048375" y="5048250"/>
            <a:ext cx="5381700" cy="904800"/>
            <a:chOff x="0" y="0"/>
            <a:chExt cx="5381700" cy="904800"/>
          </a:xfrm>
        </p:grpSpPr>
        <p:sp>
          <p:nvSpPr>
            <p:cNvPr id="375" name="Google Shape;375;p8"/>
            <p:cNvSpPr/>
            <p:nvPr/>
          </p:nvSpPr>
          <p:spPr>
            <a:xfrm>
              <a:off x="0" y="0"/>
              <a:ext cx="5381700" cy="904800"/>
            </a:xfrm>
            <a:prstGeom prst="roundRect">
              <a:avLst>
                <a:gd fmla="val 14736" name="adj"/>
              </a:avLst>
            </a:prstGeom>
            <a:solidFill>
              <a:srgbClr val="FFFFFF"/>
            </a:solidFill>
            <a:ln cap="flat" cmpd="sng" w="14300">
              <a:solidFill>
                <a:srgbClr val="E8E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 txBox="1"/>
            <p:nvPr/>
          </p:nvSpPr>
          <p:spPr>
            <a:xfrm>
              <a:off x="228600" y="0"/>
              <a:ext cx="4924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8A2BE2"/>
                  </a:solidFill>
                  <a:highlight>
                    <a:srgbClr val="F4EFEA"/>
                  </a:highlight>
                  <a:latin typeface="Fira Code"/>
                  <a:ea typeface="Fira Code"/>
                  <a:cs typeface="Fira Code"/>
                  <a:sym typeface="Fira Code"/>
                </a:rPr>
                <a:t>flex-wrap: wrap</a:t>
              </a:r>
              <a:r>
                <a:rPr b="1" lang="en-US" sz="1500">
                  <a:solidFill>
                    <a:srgbClr val="C9A24B"/>
                  </a:solidFill>
                  <a:latin typeface="Calibri"/>
                  <a:ea typeface="Calibri"/>
                  <a:cs typeface="Calibri"/>
                  <a:sym typeface="Calibri"/>
                </a:rPr>
                <a:t>→ </a:t>
              </a:r>
              <a:r>
                <a:rPr b="0" lang="en-US" sz="135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izinkan item turun baris jika kepenuhan</a:t>
              </a:r>
              <a:endParaRPr sz="15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8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6800" y="720488"/>
            <a:ext cx="3378696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9"/>
          <p:cNvSpPr txBox="1"/>
          <p:nvPr/>
        </p:nvSpPr>
        <p:spPr>
          <a:xfrm>
            <a:off x="6066800" y="1187450"/>
            <a:ext cx="5945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Yuk susun kartu sensor jadi rapi!</a:t>
            </a:r>
            <a:endParaRPr b="1" i="0" sz="3000">
              <a:solidFill>
                <a:srgbClr val="7A1F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84" name="Google Shape;384;p9"/>
          <p:cNvGrpSpPr/>
          <p:nvPr/>
        </p:nvGrpSpPr>
        <p:grpSpPr>
          <a:xfrm>
            <a:off x="342350" y="353225"/>
            <a:ext cx="5429400" cy="6355459"/>
            <a:chOff x="0" y="0"/>
            <a:chExt cx="5429400" cy="4429200"/>
          </a:xfrm>
        </p:grpSpPr>
        <p:sp>
          <p:nvSpPr>
            <p:cNvPr id="385" name="Google Shape;385;p9"/>
            <p:cNvSpPr/>
            <p:nvPr/>
          </p:nvSpPr>
          <p:spPr>
            <a:xfrm>
              <a:off x="0" y="0"/>
              <a:ext cx="5429400" cy="4429200"/>
            </a:xfrm>
            <a:prstGeom prst="roundRect">
              <a:avLst>
                <a:gd fmla="val 2579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0" y="0"/>
              <a:ext cx="5429400" cy="2634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66" y="18206"/>
                    <a:pt x="740" y="11099"/>
                  </a:cubicBezTo>
                  <a:cubicBezTo>
                    <a:pt x="1214" y="3993"/>
                    <a:pt x="1856" y="0"/>
                    <a:pt x="2526" y="0"/>
                  </a:cubicBezTo>
                  <a:lnTo>
                    <a:pt x="117474" y="0"/>
                  </a:lnTo>
                  <a:cubicBezTo>
                    <a:pt x="118869" y="3"/>
                    <a:pt x="120000" y="16968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42875" y="84863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295275" y="84863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447675" y="84863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 txBox="1"/>
            <p:nvPr/>
          </p:nvSpPr>
          <p:spPr>
            <a:xfrm>
              <a:off x="666750" y="76200"/>
              <a:ext cx="45720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>
                  <a:solidFill>
                    <a:srgbClr val="6B5F5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index.html</a:t>
              </a:r>
              <a:endParaRPr b="0" i="0" sz="1100">
                <a:solidFill>
                  <a:srgbClr val="6B5F5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sp>
          <p:nvSpPr>
            <p:cNvPr id="391" name="Google Shape;391;p9"/>
            <p:cNvSpPr txBox="1"/>
            <p:nvPr/>
          </p:nvSpPr>
          <p:spPr>
            <a:xfrm>
              <a:off x="228600" y="495306"/>
              <a:ext cx="5072400" cy="37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{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display: </a:t>
              </a:r>
              <a:r>
                <a:rPr b="1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flex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gap: </a:t>
              </a:r>
              <a:r>
                <a:rPr b="1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16px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flex-wrap: </a:t>
              </a:r>
              <a:r>
                <a:rPr b="1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wrap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i="0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.kartu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{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padding: </a:t>
              </a:r>
              <a:r>
                <a:rPr b="0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20px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border: </a:t>
              </a:r>
              <a:r>
                <a:rPr b="0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2px solid #C9A24B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border-radius: </a:t>
              </a:r>
              <a:r>
                <a:rPr b="0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12px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marR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background-color: </a:t>
              </a:r>
              <a:r>
                <a:rPr b="0" i="0"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#FAF8F5</a:t>
              </a:r>
              <a:r>
                <a:rPr b="0" i="0"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0"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65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t/>
              </a:r>
              <a:endParaRPr sz="165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class=</a:t>
              </a:r>
              <a:r>
                <a:rPr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"container"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class=</a:t>
              </a:r>
              <a:r>
                <a:rPr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"kartu"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Suhu: 28°C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&lt;/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class=</a:t>
              </a:r>
              <a:r>
                <a:rPr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"kartu"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Kelembapan: 60%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&lt;/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7145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 class=</a:t>
              </a:r>
              <a:r>
                <a:rPr lang="en-US" sz="16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"kartu"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lang="en-US" sz="165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Status: Normal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&lt;/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650">
                <a:solidFill>
                  <a:srgbClr val="0033B3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105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&lt;/</a:t>
              </a:r>
              <a:r>
                <a:rPr b="1" lang="en-US" sz="165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-US" sz="165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65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392" name="Google Shape;392;p9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9</a:t>
            </a:r>
            <a:endParaRPr b="0" i="0"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9"/>
          <p:cNvGrpSpPr/>
          <p:nvPr/>
        </p:nvGrpSpPr>
        <p:grpSpPr>
          <a:xfrm>
            <a:off x="6147888" y="1796038"/>
            <a:ext cx="5334000" cy="4476900"/>
            <a:chOff x="0" y="0"/>
            <a:chExt cx="5334000" cy="4476900"/>
          </a:xfrm>
        </p:grpSpPr>
        <p:sp>
          <p:nvSpPr>
            <p:cNvPr id="394" name="Google Shape;394;p9"/>
            <p:cNvSpPr/>
            <p:nvPr/>
          </p:nvSpPr>
          <p:spPr>
            <a:xfrm>
              <a:off x="0" y="0"/>
              <a:ext cx="53340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0" y="0"/>
              <a:ext cx="5334000" cy="400200"/>
            </a:xfrm>
            <a:custGeom>
              <a:rect b="b" l="l" r="r" t="t"/>
              <a:pathLst>
                <a:path extrusionOk="0" h="120000" w="120000">
                  <a:moveTo>
                    <a:pt x="0" y="45714"/>
                  </a:moveTo>
                  <a:cubicBezTo>
                    <a:pt x="0" y="20467"/>
                    <a:pt x="1535" y="0"/>
                    <a:pt x="3429" y="0"/>
                  </a:cubicBezTo>
                  <a:lnTo>
                    <a:pt x="116571" y="0"/>
                  </a:lnTo>
                  <a:cubicBezTo>
                    <a:pt x="117480" y="-2"/>
                    <a:pt x="118353" y="4814"/>
                    <a:pt x="118996" y="13387"/>
                  </a:cubicBezTo>
                  <a:cubicBezTo>
                    <a:pt x="119639" y="21961"/>
                    <a:pt x="120000" y="33589"/>
                    <a:pt x="120000" y="45714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0" y="95250"/>
              <a:ext cx="381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B5F58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 b="1" sz="11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0" name="Google Shape;40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5850" y="2307340"/>
            <a:ext cx="5098126" cy="38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g409df21f349_0_2038"/>
          <p:cNvGrpSpPr/>
          <p:nvPr/>
        </p:nvGrpSpPr>
        <p:grpSpPr>
          <a:xfrm>
            <a:off x="863650" y="805175"/>
            <a:ext cx="10464698" cy="4930641"/>
            <a:chOff x="0" y="0"/>
            <a:chExt cx="4953000" cy="2333700"/>
          </a:xfrm>
        </p:grpSpPr>
        <p:sp>
          <p:nvSpPr>
            <p:cNvPr id="406" name="Google Shape;406;g409df21f349_0_2038"/>
            <p:cNvSpPr/>
            <p:nvPr/>
          </p:nvSpPr>
          <p:spPr>
            <a:xfrm>
              <a:off x="0" y="0"/>
              <a:ext cx="4953000" cy="2333700"/>
            </a:xfrm>
            <a:prstGeom prst="roundRect">
              <a:avLst>
                <a:gd fmla="val 4896" name="adj"/>
              </a:avLst>
            </a:prstGeom>
            <a:solidFill>
              <a:srgbClr val="FFFFFF"/>
            </a:solidFill>
            <a:ln cap="flat" cmpd="sng" w="302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g409df21f349_0_2038"/>
            <p:cNvSpPr txBox="1"/>
            <p:nvPr/>
          </p:nvSpPr>
          <p:spPr>
            <a:xfrm>
              <a:off x="285750" y="228600"/>
              <a:ext cx="43815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71">
                  <a:solidFill>
                    <a:srgbClr val="7A1F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4226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Diskusi Live Coding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901"/>
                </a:spcBef>
                <a:spcAft>
                  <a:spcPts val="0"/>
                </a:spcAft>
                <a:buNone/>
              </a:pP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Kalau </a:t>
              </a:r>
              <a:r>
                <a:rPr b="1" lang="en-US" sz="3169">
                  <a:solidFill>
                    <a:srgbClr val="7A1F2B"/>
                  </a:solidFill>
                  <a:highlight>
                    <a:srgbClr val="F4EFEA"/>
                  </a:highlight>
                  <a:latin typeface="Fira Code"/>
                  <a:ea typeface="Fira Code"/>
                  <a:cs typeface="Fira Code"/>
                  <a:sym typeface="Fira Code"/>
                </a:rPr>
                <a:t>flex-wrap: wrap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dihapus, apa yang terjadi saat layar dipersempit?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g409df21f349_0_2038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9</a:t>
            </a:r>
            <a:endParaRPr b="0" i="0"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2860923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1"/>
          <p:cNvSpPr txBox="1"/>
          <p:nvPr/>
        </p:nvSpPr>
        <p:spPr>
          <a:xfrm>
            <a:off x="762000" y="1152525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Media Query: Beda Layar, Beda Susunan</a:t>
            </a:r>
            <a:endParaRPr/>
          </a:p>
        </p:txBody>
      </p:sp>
      <p:grpSp>
        <p:nvGrpSpPr>
          <p:cNvPr id="415" name="Google Shape;415;p11"/>
          <p:cNvGrpSpPr/>
          <p:nvPr/>
        </p:nvGrpSpPr>
        <p:grpSpPr>
          <a:xfrm>
            <a:off x="762000" y="1809750"/>
            <a:ext cx="5143500" cy="4191000"/>
            <a:chOff x="0" y="0"/>
            <a:chExt cx="5143500" cy="4191000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51435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 txBox="1"/>
            <p:nvPr/>
          </p:nvSpPr>
          <p:spPr>
            <a:xfrm>
              <a:off x="285750" y="22860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Perubahan Layout Otomatis</a:t>
              </a:r>
              <a:endParaRPr b="1" sz="16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285750" y="666750"/>
              <a:ext cx="2952900" cy="1809600"/>
            </a:xfrm>
            <a:prstGeom prst="roundRect">
              <a:avLst>
                <a:gd fmla="val 6315" name="adj"/>
              </a:avLst>
            </a:prstGeom>
            <a:solidFill>
              <a:srgbClr val="FAF8F5"/>
            </a:solidFill>
            <a:ln cap="flat" cmpd="sng" w="19050">
              <a:solidFill>
                <a:srgbClr val="2B23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9" name="Google Shape;419;p11"/>
            <p:cNvCxnSpPr/>
            <p:nvPr/>
          </p:nvCxnSpPr>
          <p:spPr>
            <a:xfrm>
              <a:off x="285750" y="904875"/>
              <a:ext cx="2952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0" name="Google Shape;420;p11"/>
            <p:cNvSpPr/>
            <p:nvPr/>
          </p:nvSpPr>
          <p:spPr>
            <a:xfrm>
              <a:off x="400050" y="757238"/>
              <a:ext cx="57300" cy="57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495300" y="757238"/>
              <a:ext cx="57300" cy="57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590550" y="757238"/>
              <a:ext cx="57300" cy="57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428625" y="1095375"/>
              <a:ext cx="714300" cy="1143000"/>
            </a:xfrm>
            <a:prstGeom prst="roundRect">
              <a:avLst>
                <a:gd fmla="val 8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1404938" y="1095375"/>
              <a:ext cx="714300" cy="1143000"/>
            </a:xfrm>
            <a:prstGeom prst="roundRect">
              <a:avLst>
                <a:gd fmla="val 8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2381250" y="1095375"/>
              <a:ext cx="714300" cy="1143000"/>
            </a:xfrm>
            <a:prstGeom prst="roundRect">
              <a:avLst>
                <a:gd fmla="val 800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1"/>
            <p:cNvSpPr txBox="1"/>
            <p:nvPr/>
          </p:nvSpPr>
          <p:spPr>
            <a:xfrm>
              <a:off x="285750" y="2619375"/>
              <a:ext cx="2952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Layar Lebar (&gt; 760px)</a:t>
              </a:r>
              <a:endParaRPr b="1" sz="13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5F58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flex-direction: row</a:t>
              </a:r>
              <a:endParaRPr b="0" sz="1100">
                <a:solidFill>
                  <a:srgbClr val="6B5F5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3524250" y="666750"/>
              <a:ext cx="1333500" cy="2571900"/>
            </a:xfrm>
            <a:prstGeom prst="roundRect">
              <a:avLst>
                <a:gd fmla="val 11428" name="adj"/>
              </a:avLst>
            </a:prstGeom>
            <a:solidFill>
              <a:srgbClr val="FAF8F5"/>
            </a:solidFill>
            <a:ln cap="flat" cmpd="sng" w="19050">
              <a:solidFill>
                <a:srgbClr val="2B23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4000500" y="742950"/>
              <a:ext cx="381000" cy="47700"/>
            </a:xfrm>
            <a:prstGeom prst="roundRect">
              <a:avLst>
                <a:gd fmla="val 50000" name="adj"/>
              </a:avLst>
            </a:prstGeom>
            <a:solidFill>
              <a:srgbClr val="2B23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3643313" y="904875"/>
              <a:ext cx="1095300" cy="619200"/>
            </a:xfrm>
            <a:prstGeom prst="roundRect">
              <a:avLst>
                <a:gd fmla="val 923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3643313" y="1600200"/>
              <a:ext cx="1095300" cy="619200"/>
            </a:xfrm>
            <a:prstGeom prst="roundRect">
              <a:avLst>
                <a:gd fmla="val 923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3643313" y="2295525"/>
              <a:ext cx="1095300" cy="619200"/>
            </a:xfrm>
            <a:prstGeom prst="roundRect">
              <a:avLst>
                <a:gd fmla="val 9230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1"/>
            <p:cNvSpPr txBox="1"/>
            <p:nvPr/>
          </p:nvSpPr>
          <p:spPr>
            <a:xfrm>
              <a:off x="3381375" y="3381375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Layar HP ( 760px)</a:t>
              </a:r>
              <a:endParaRPr b="1" sz="130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flex-direction: column</a:t>
              </a:r>
              <a:endParaRPr b="1" sz="1050">
                <a:solidFill>
                  <a:srgbClr val="067D17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6286500" y="1809750"/>
            <a:ext cx="5143500" cy="4191000"/>
            <a:chOff x="0" y="0"/>
            <a:chExt cx="5143500" cy="4191000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51435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0" y="0"/>
              <a:ext cx="5143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295275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44767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1"/>
            <p:cNvSpPr txBox="1"/>
            <p:nvPr/>
          </p:nvSpPr>
          <p:spPr>
            <a:xfrm>
              <a:off x="762000" y="95250"/>
              <a:ext cx="3619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5F5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style.css</a:t>
              </a:r>
              <a:endParaRPr b="0" sz="1100">
                <a:solidFill>
                  <a:srgbClr val="6B5F5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sp>
          <p:nvSpPr>
            <p:cNvPr id="440" name="Google Shape;440;p11"/>
            <p:cNvSpPr txBox="1"/>
            <p:nvPr/>
          </p:nvSpPr>
          <p:spPr>
            <a:xfrm>
              <a:off x="304800" y="571500"/>
              <a:ext cx="45339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8C857B"/>
                  </a:solidFill>
                  <a:latin typeface="Fira Code"/>
                  <a:ea typeface="Fira Code"/>
                  <a:cs typeface="Fira Code"/>
                  <a:sym typeface="Fira Code"/>
                </a:rPr>
                <a:t>/* Jika lebar layar max 760px */</a:t>
              </a:r>
              <a:endParaRPr i="1" sz="1800">
                <a:solidFill>
                  <a:srgbClr val="8C857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@media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lang="en-US" sz="21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max-width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1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760px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sz="21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sz="21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5334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flex-direction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1" lang="en-US" sz="2100">
                  <a:solidFill>
                    <a:srgbClr val="067D17"/>
                  </a:solidFill>
                  <a:latin typeface="Fira Code"/>
                  <a:ea typeface="Fira Code"/>
                  <a:cs typeface="Fira Code"/>
                  <a:sym typeface="Fira Code"/>
                </a:rPr>
                <a:t>column</a:t>
              </a: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21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1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100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41" name="Google Shape;441;p11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11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71500"/>
            <a:ext cx="3378696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2"/>
          <p:cNvSpPr txBox="1"/>
          <p:nvPr/>
        </p:nvSpPr>
        <p:spPr>
          <a:xfrm>
            <a:off x="762000" y="1152525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Gabungkan Semua Jadi Dashboard Responsif</a:t>
            </a:r>
            <a:endParaRPr/>
          </a:p>
        </p:txBody>
      </p:sp>
      <p:grpSp>
        <p:nvGrpSpPr>
          <p:cNvPr id="448" name="Google Shape;448;p12"/>
          <p:cNvGrpSpPr/>
          <p:nvPr/>
        </p:nvGrpSpPr>
        <p:grpSpPr>
          <a:xfrm>
            <a:off x="1809750" y="2238375"/>
            <a:ext cx="8572500" cy="3952800"/>
            <a:chOff x="1809750" y="2238375"/>
            <a:chExt cx="8572500" cy="3952800"/>
          </a:xfrm>
        </p:grpSpPr>
        <p:sp>
          <p:nvSpPr>
            <p:cNvPr id="449" name="Google Shape;449;p12"/>
            <p:cNvSpPr/>
            <p:nvPr/>
          </p:nvSpPr>
          <p:spPr>
            <a:xfrm>
              <a:off x="1809750" y="2238375"/>
              <a:ext cx="8572500" cy="3952800"/>
            </a:xfrm>
            <a:prstGeom prst="roundRect">
              <a:avLst>
                <a:gd fmla="val 3855" name="adj"/>
              </a:avLst>
            </a:prstGeom>
            <a:solidFill>
              <a:srgbClr val="FFFFFF"/>
            </a:solidFill>
            <a:ln cap="flat" cmpd="sng" w="143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2"/>
            <p:cNvSpPr/>
            <p:nvPr/>
          </p:nvSpPr>
          <p:spPr>
            <a:xfrm>
              <a:off x="1809750" y="2238375"/>
              <a:ext cx="8572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955" y="0"/>
                    <a:pt x="2133" y="0"/>
                  </a:cubicBezTo>
                  <a:lnTo>
                    <a:pt x="117867" y="0"/>
                  </a:lnTo>
                  <a:cubicBezTo>
                    <a:pt x="119045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4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2"/>
            <p:cNvSpPr/>
            <p:nvPr/>
          </p:nvSpPr>
          <p:spPr>
            <a:xfrm>
              <a:off x="2000250" y="2381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2"/>
            <p:cNvSpPr/>
            <p:nvPr/>
          </p:nvSpPr>
          <p:spPr>
            <a:xfrm>
              <a:off x="2152650" y="2381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2"/>
            <p:cNvSpPr/>
            <p:nvPr/>
          </p:nvSpPr>
          <p:spPr>
            <a:xfrm>
              <a:off x="2305050" y="2381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2"/>
            <p:cNvSpPr txBox="1"/>
            <p:nvPr/>
          </p:nvSpPr>
          <p:spPr>
            <a:xfrm>
              <a:off x="1809750" y="2324100"/>
              <a:ext cx="857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5F5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index.html</a:t>
              </a:r>
              <a:endParaRPr b="0" sz="1100">
                <a:solidFill>
                  <a:srgbClr val="6B5F58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sp>
          <p:nvSpPr>
            <p:cNvPr id="455" name="Google Shape;455;p12"/>
            <p:cNvSpPr txBox="1"/>
            <p:nvPr/>
          </p:nvSpPr>
          <p:spPr>
            <a:xfrm>
              <a:off x="2143125" y="2762250"/>
              <a:ext cx="7905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24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display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flex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gap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16px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flex-wrap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wrap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justify-content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center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24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.kartu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padding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20px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margin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8px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border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2px solid #C9A24B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border-radius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12px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background-color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#FAF8F5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24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@media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max-width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760px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2667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24">
                  <a:solidFill>
                    <a:srgbClr val="8A2BE2"/>
                  </a:solidFill>
                  <a:latin typeface="Fira Code"/>
                  <a:ea typeface="Fira Code"/>
                  <a:cs typeface="Fira Code"/>
                  <a:sym typeface="Fira Code"/>
                </a:rPr>
                <a:t>.container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 { </a:t>
              </a:r>
              <a:r>
                <a:rPr lang="en-US" sz="1124">
                  <a:solidFill>
                    <a:srgbClr val="0033B3"/>
                  </a:solidFill>
                  <a:latin typeface="Fira Code"/>
                  <a:ea typeface="Fira Code"/>
                  <a:cs typeface="Fira Code"/>
                  <a:sym typeface="Fira Code"/>
                </a:rPr>
                <a:t>flex-direction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lang="en-US" sz="1124">
                  <a:solidFill>
                    <a:srgbClr val="067D17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column</a:t>
              </a: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; }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24">
                  <a:solidFill>
                    <a:srgbClr val="2B2320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1124">
                <a:solidFill>
                  <a:srgbClr val="2B232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56" name="Google Shape;456;p12"/>
          <p:cNvSpPr txBox="1"/>
          <p:nvPr/>
        </p:nvSpPr>
        <p:spPr>
          <a:xfrm>
            <a:off x="762000" y="1815405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Form+tabel dari P6, flexbox dari Topik 1-2, sekarang </a:t>
            </a:r>
            <a:r>
              <a:rPr i="1" lang="en-US" sz="210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download file MediaQuery dari linktr.ee</a:t>
            </a:r>
            <a:endParaRPr/>
          </a:p>
        </p:txBody>
      </p:sp>
      <p:sp>
        <p:nvSpPr>
          <p:cNvPr id="457" name="Google Shape;457;p12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12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g409df21f349_0_2981"/>
          <p:cNvGrpSpPr/>
          <p:nvPr/>
        </p:nvGrpSpPr>
        <p:grpSpPr>
          <a:xfrm>
            <a:off x="863650" y="805175"/>
            <a:ext cx="10464698" cy="4930641"/>
            <a:chOff x="0" y="0"/>
            <a:chExt cx="4953000" cy="2333700"/>
          </a:xfrm>
        </p:grpSpPr>
        <p:sp>
          <p:nvSpPr>
            <p:cNvPr id="463" name="Google Shape;463;g409df21f349_0_2981"/>
            <p:cNvSpPr/>
            <p:nvPr/>
          </p:nvSpPr>
          <p:spPr>
            <a:xfrm>
              <a:off x="0" y="0"/>
              <a:ext cx="4953000" cy="2333700"/>
            </a:xfrm>
            <a:prstGeom prst="roundRect">
              <a:avLst>
                <a:gd fmla="val 4896" name="adj"/>
              </a:avLst>
            </a:prstGeom>
            <a:solidFill>
              <a:srgbClr val="FFFFFF"/>
            </a:solidFill>
            <a:ln cap="flat" cmpd="sng" w="3020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g409df21f349_0_2981"/>
            <p:cNvSpPr txBox="1"/>
            <p:nvPr/>
          </p:nvSpPr>
          <p:spPr>
            <a:xfrm>
              <a:off x="285750" y="228600"/>
              <a:ext cx="43815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71">
                  <a:solidFill>
                    <a:srgbClr val="7A1F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4226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Diskusi Live Coding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901"/>
                </a:spcBef>
                <a:spcAft>
                  <a:spcPts val="0"/>
                </a:spcAft>
                <a:buNone/>
              </a:pPr>
              <a:r>
                <a:rPr lang="en-US" sz="338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rPr>
                <a:t>Analisa apa saja perbedaan dari file kamu dengan file html yang sudah kamu download (terbaru).</a:t>
              </a:r>
              <a:endParaRPr sz="3380">
                <a:solidFill>
                  <a:srgbClr val="2B23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g409df21f349_0_2981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9</a:t>
            </a:r>
            <a:endParaRPr b="0" i="0" sz="1050">
              <a:solidFill>
                <a:srgbClr val="6B5F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1F2B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409df21f349_0_3487"/>
          <p:cNvSpPr/>
          <p:nvPr/>
        </p:nvSpPr>
        <p:spPr>
          <a:xfrm>
            <a:off x="762000" y="571500"/>
            <a:ext cx="2000100" cy="285900"/>
          </a:xfrm>
          <a:prstGeom prst="roundRect">
            <a:avLst>
              <a:gd fmla="val 50000" name="adj"/>
            </a:avLst>
          </a:prstGeom>
          <a:solidFill>
            <a:srgbClr val="5F16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409df21f349_0_3487"/>
          <p:cNvSpPr txBox="1"/>
          <p:nvPr/>
        </p:nvSpPr>
        <p:spPr>
          <a:xfrm>
            <a:off x="762000" y="571500"/>
            <a:ext cx="20001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EVALUASI MANDIRI</a:t>
            </a:r>
            <a:endParaRPr b="1" sz="900">
              <a:solidFill>
                <a:srgbClr val="C9A2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409df21f349_0_3487"/>
          <p:cNvSpPr txBox="1"/>
          <p:nvPr/>
        </p:nvSpPr>
        <p:spPr>
          <a:xfrm>
            <a:off x="762000" y="1047750"/>
            <a:ext cx="10668000" cy="55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Post-Test: 5 Soal Pilihan Ganda</a:t>
            </a:r>
            <a:endParaRPr b="1" sz="3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473" name="Google Shape;473;g409df21f349_0_3487"/>
          <p:cNvGrpSpPr/>
          <p:nvPr/>
        </p:nvGrpSpPr>
        <p:grpSpPr>
          <a:xfrm>
            <a:off x="762000" y="1905000"/>
            <a:ext cx="4572000" cy="3429000"/>
            <a:chOff x="0" y="0"/>
            <a:chExt cx="4572000" cy="3429000"/>
          </a:xfrm>
        </p:grpSpPr>
        <p:sp>
          <p:nvSpPr>
            <p:cNvPr id="474" name="Google Shape;474;g409df21f349_0_3487"/>
            <p:cNvSpPr/>
            <p:nvPr/>
          </p:nvSpPr>
          <p:spPr>
            <a:xfrm>
              <a:off x="0" y="0"/>
              <a:ext cx="4572000" cy="3429000"/>
            </a:xfrm>
            <a:prstGeom prst="roundRect">
              <a:avLst>
                <a:gd fmla="val 4444" name="adj"/>
              </a:avLst>
            </a:prstGeom>
            <a:solidFill>
              <a:srgbClr val="FAF8F5"/>
            </a:solidFill>
            <a:ln cap="flat" cmpd="sng" w="19050">
              <a:solidFill>
                <a:srgbClr val="5F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409df21f349_0_3487"/>
            <p:cNvSpPr/>
            <p:nvPr/>
          </p:nvSpPr>
          <p:spPr>
            <a:xfrm>
              <a:off x="0" y="0"/>
              <a:ext cx="45720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cubicBezTo>
                    <a:pt x="0" y="16110"/>
                    <a:pt x="1342" y="0"/>
                    <a:pt x="3000" y="0"/>
                  </a:cubicBezTo>
                  <a:lnTo>
                    <a:pt x="117000" y="0"/>
                  </a:lnTo>
                  <a:cubicBezTo>
                    <a:pt x="118658" y="0"/>
                    <a:pt x="120000" y="16110"/>
                    <a:pt x="120000" y="36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8D9B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g409df21f349_0_3487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g409df21f349_0_3487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g409df21f349_0_3487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g409df21f349_0_3487"/>
            <p:cNvSpPr/>
            <p:nvPr/>
          </p:nvSpPr>
          <p:spPr>
            <a:xfrm>
              <a:off x="762000" y="76200"/>
              <a:ext cx="3048000" cy="228600"/>
            </a:xfrm>
            <a:prstGeom prst="roundRect">
              <a:avLst>
                <a:gd fmla="val 50000" name="adj"/>
              </a:avLst>
            </a:prstGeom>
            <a:solidFill>
              <a:srgbClr val="FA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g409df21f349_0_3487"/>
            <p:cNvSpPr txBox="1"/>
            <p:nvPr/>
          </p:nvSpPr>
          <p:spPr>
            <a:xfrm>
              <a:off x="762000" y="76200"/>
              <a:ext cx="3048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7A1F2B"/>
                  </a:solidFill>
                  <a:latin typeface="Fira Code"/>
                  <a:ea typeface="Fira Code"/>
                  <a:cs typeface="Fira Code"/>
                  <a:sym typeface="Fira Code"/>
                </a:rPr>
                <a:t>linktr.ee/InspiraLabs_SMA</a:t>
              </a:r>
              <a:endParaRPr b="0" sz="1000">
                <a:solidFill>
                  <a:srgbClr val="7A1F2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481" name="Google Shape;481;g409df21f349_0_3487"/>
            <p:cNvSpPr/>
            <p:nvPr/>
          </p:nvSpPr>
          <p:spPr>
            <a:xfrm>
              <a:off x="381000" y="762000"/>
              <a:ext cx="3810000" cy="476400"/>
            </a:xfrm>
            <a:prstGeom prst="roundRect">
              <a:avLst>
                <a:gd fmla="val 15999" name="adj"/>
              </a:avLst>
            </a:prstGeom>
            <a:solidFill>
              <a:srgbClr val="E8D9B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g409df21f349_0_3487"/>
            <p:cNvSpPr txBox="1"/>
            <p:nvPr/>
          </p:nvSpPr>
          <p:spPr>
            <a:xfrm>
              <a:off x="381000" y="76200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Materi Pertemuan </a:t>
              </a:r>
              <a:r>
                <a:rPr lang="en-US" sz="12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0" sz="12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g409df21f349_0_3487"/>
            <p:cNvSpPr/>
            <p:nvPr/>
          </p:nvSpPr>
          <p:spPr>
            <a:xfrm>
              <a:off x="381000" y="1428750"/>
              <a:ext cx="3810000" cy="571500"/>
            </a:xfrm>
            <a:prstGeom prst="roundRect">
              <a:avLst>
                <a:gd fmla="val 13333" name="adj"/>
              </a:avLst>
            </a:prstGeom>
            <a:solidFill>
              <a:srgbClr val="C9A2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g409df21f349_0_3487"/>
            <p:cNvSpPr txBox="1"/>
            <p:nvPr/>
          </p:nvSpPr>
          <p:spPr>
            <a:xfrm>
              <a:off x="381000" y="142875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📝 POST-TEST PERTEMUAN 7</a:t>
              </a:r>
              <a:endParaRPr b="1" sz="16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g409df21f349_0_3487"/>
            <p:cNvSpPr/>
            <p:nvPr/>
          </p:nvSpPr>
          <p:spPr>
            <a:xfrm>
              <a:off x="381000" y="2190750"/>
              <a:ext cx="3810000" cy="476400"/>
            </a:xfrm>
            <a:prstGeom prst="roundRect">
              <a:avLst>
                <a:gd fmla="val 15999" name="adj"/>
              </a:avLst>
            </a:prstGeom>
            <a:solidFill>
              <a:srgbClr val="E8D9B5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g409df21f349_0_3487"/>
            <p:cNvSpPr txBox="1"/>
            <p:nvPr/>
          </p:nvSpPr>
          <p:spPr>
            <a:xfrm>
              <a:off x="381000" y="21907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Challenge Pertemuan </a:t>
              </a:r>
              <a:r>
                <a:rPr lang="en-US" sz="12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0" sz="12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g409df21f349_0_3487"/>
          <p:cNvSpPr txBox="1"/>
          <p:nvPr/>
        </p:nvSpPr>
        <p:spPr>
          <a:xfrm>
            <a:off x="5905500" y="1905000"/>
            <a:ext cx="5524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A24B"/>
                </a:solidFill>
                <a:latin typeface="Fira Code"/>
                <a:ea typeface="Fira Code"/>
                <a:cs typeface="Fira Code"/>
                <a:sym typeface="Fira Code"/>
              </a:rPr>
              <a:t>01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Buka tautan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Linktree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yang telah dibagikan </a:t>
            </a:r>
            <a:endParaRPr b="1" sz="1200">
              <a:solidFill>
                <a:srgbClr val="C9A24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A24B"/>
                </a:solidFill>
                <a:latin typeface="Fira Code"/>
                <a:ea typeface="Fira Code"/>
                <a:cs typeface="Fira Code"/>
                <a:sym typeface="Fira Code"/>
              </a:rPr>
              <a:t>02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Temukan dan klik tombol bertuliskan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"Post Test"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200">
              <a:solidFill>
                <a:srgbClr val="C9A24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9A24B"/>
                </a:solidFill>
                <a:latin typeface="Fira Code"/>
                <a:ea typeface="Fira Code"/>
                <a:cs typeface="Fira Code"/>
                <a:sym typeface="Fira Code"/>
              </a:rPr>
              <a:t>03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Kerjakan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soal pilihan ganda</a:t>
            </a: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tersebut dengan teliti dan jujur!</a:t>
            </a:r>
            <a:endParaRPr b="1" sz="1200">
              <a:solidFill>
                <a:srgbClr val="C9A24B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8" name="Google Shape;488;g409df21f349_0_3487"/>
          <p:cNvSpPr txBox="1"/>
          <p:nvPr/>
        </p:nvSpPr>
        <p:spPr>
          <a:xfrm>
            <a:off x="762000" y="6096000"/>
            <a:ext cx="476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409df21f349_0_3487"/>
          <p:cNvSpPr txBox="1"/>
          <p:nvPr/>
        </p:nvSpPr>
        <p:spPr>
          <a:xfrm>
            <a:off x="9906000" y="6096000"/>
            <a:ext cx="1524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P3 SMA | 15</a:t>
            </a:r>
            <a:endParaRPr b="1" sz="1200">
              <a:solidFill>
                <a:srgbClr val="C9A24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"/>
          <p:cNvSpPr/>
          <p:nvPr/>
        </p:nvSpPr>
        <p:spPr>
          <a:xfrm>
            <a:off x="-762000" y="-762000"/>
            <a:ext cx="3333900" cy="3333900"/>
          </a:xfrm>
          <a:prstGeom prst="ellipse">
            <a:avLst/>
          </a:prstGeom>
          <a:solidFill>
            <a:srgbClr val="E8D9B5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" name="Google Shape;495;p15"/>
          <p:cNvGrpSpPr/>
          <p:nvPr/>
        </p:nvGrpSpPr>
        <p:grpSpPr>
          <a:xfrm>
            <a:off x="1809750" y="1047750"/>
            <a:ext cx="8572500" cy="4476900"/>
            <a:chOff x="0" y="0"/>
            <a:chExt cx="8572500" cy="4476900"/>
          </a:xfrm>
        </p:grpSpPr>
        <p:sp>
          <p:nvSpPr>
            <p:cNvPr id="496" name="Google Shape;496;p15"/>
            <p:cNvSpPr/>
            <p:nvPr/>
          </p:nvSpPr>
          <p:spPr>
            <a:xfrm>
              <a:off x="0" y="0"/>
              <a:ext cx="8572500" cy="44769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9050">
              <a:solidFill>
                <a:srgbClr val="C9A2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5"/>
            <p:cNvSpPr txBox="1"/>
            <p:nvPr/>
          </p:nvSpPr>
          <p:spPr>
            <a:xfrm>
              <a:off x="952500" y="4572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10">
                  <a:solidFill>
                    <a:srgbClr val="7A1F2B"/>
                  </a:solidFill>
                  <a:latin typeface="Cambria"/>
                  <a:ea typeface="Cambria"/>
                  <a:cs typeface="Cambria"/>
                  <a:sym typeface="Cambria"/>
                </a:rPr>
                <a:t>Terima kasih!</a:t>
              </a:r>
              <a:endParaRPr b="1" sz="481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498" name="Google Shape;498;p15"/>
            <p:cNvGrpSpPr/>
            <p:nvPr/>
          </p:nvGrpSpPr>
          <p:grpSpPr>
            <a:xfrm>
              <a:off x="3095625" y="1352550"/>
              <a:ext cx="2381400" cy="400200"/>
              <a:chOff x="0" y="0"/>
              <a:chExt cx="2381400" cy="400200"/>
            </a:xfrm>
          </p:grpSpPr>
          <p:sp>
            <p:nvSpPr>
              <p:cNvPr id="499" name="Google Shape;499;p15"/>
              <p:cNvSpPr/>
              <p:nvPr/>
            </p:nvSpPr>
            <p:spPr>
              <a:xfrm>
                <a:off x="0" y="0"/>
                <a:ext cx="23814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7A1F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5"/>
              <p:cNvSpPr txBox="1"/>
              <p:nvPr/>
            </p:nvSpPr>
            <p:spPr>
              <a:xfrm>
                <a:off x="0" y="0"/>
                <a:ext cx="2381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SAMPAI JUMPA DI P8!</a:t>
                </a:r>
                <a:endParaRPr b="1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15"/>
            <p:cNvGrpSpPr/>
            <p:nvPr/>
          </p:nvGrpSpPr>
          <p:grpSpPr>
            <a:xfrm>
              <a:off x="571500" y="2047875"/>
              <a:ext cx="7429500" cy="1857300"/>
              <a:chOff x="0" y="0"/>
              <a:chExt cx="7429500" cy="1857300"/>
            </a:xfrm>
          </p:grpSpPr>
          <p:sp>
            <p:nvSpPr>
              <p:cNvPr id="502" name="Google Shape;502;p15"/>
              <p:cNvSpPr/>
              <p:nvPr/>
            </p:nvSpPr>
            <p:spPr>
              <a:xfrm>
                <a:off x="0" y="0"/>
                <a:ext cx="7429500" cy="1857300"/>
              </a:xfrm>
              <a:prstGeom prst="roundRect">
                <a:avLst>
                  <a:gd fmla="val 8205" name="adj"/>
                </a:avLst>
              </a:prstGeom>
              <a:solidFill>
                <a:srgbClr val="FAF8F5"/>
              </a:solidFill>
              <a:ln cap="flat" cmpd="sng" w="14300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03" name="Google Shape;503;p15"/>
              <p:cNvGrpSpPr/>
              <p:nvPr/>
            </p:nvGrpSpPr>
            <p:grpSpPr>
              <a:xfrm>
                <a:off x="285750" y="228600"/>
                <a:ext cx="1524000" cy="266700"/>
                <a:chOff x="0" y="0"/>
                <a:chExt cx="1524000" cy="266700"/>
              </a:xfrm>
            </p:grpSpPr>
            <p:sp>
              <p:nvSpPr>
                <p:cNvPr id="504" name="Google Shape;504;p15"/>
                <p:cNvSpPr/>
                <p:nvPr/>
              </p:nvSpPr>
              <p:spPr>
                <a:xfrm>
                  <a:off x="0" y="0"/>
                  <a:ext cx="1524000" cy="266700"/>
                </a:xfrm>
                <a:prstGeom prst="roundRect">
                  <a:avLst>
                    <a:gd fmla="val 21428" name="adj"/>
                  </a:avLst>
                </a:prstGeom>
                <a:solidFill>
                  <a:srgbClr val="C9A24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15"/>
                <p:cNvSpPr txBox="1"/>
                <p:nvPr/>
              </p:nvSpPr>
              <p:spPr>
                <a:xfrm>
                  <a:off x="0" y="0"/>
                  <a:ext cx="15240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MINGGU DEPAN (P8)</a:t>
                  </a:r>
                  <a:endParaRPr b="1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6" name="Google Shape;506;p15"/>
              <p:cNvSpPr txBox="1"/>
              <p:nvPr/>
            </p:nvSpPr>
            <p:spPr>
              <a:xfrm>
                <a:off x="285750" y="628650"/>
                <a:ext cx="68580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2B232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 + Pengenalan JavaScript DOM &amp; Event</a:t>
                </a:r>
                <a:endParaRPr b="1" sz="2000">
                  <a:solidFill>
                    <a:srgbClr val="2B232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1" lang="en-US" sz="1600">
                    <a:solidFill>
                      <a:srgbClr val="7A1F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"Dashboard kita mulai 'hidup'!"</a:t>
                </a:r>
                <a:endParaRPr b="0" i="1" sz="1600">
                  <a:solidFill>
                    <a:srgbClr val="7A1F2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7" name="Google Shape;507;p15"/>
          <p:cNvSpPr txBox="1"/>
          <p:nvPr/>
        </p:nvSpPr>
        <p:spPr>
          <a:xfrm>
            <a:off x="762000" y="641985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8"/>
                </a:solidFill>
                <a:latin typeface="Calibri"/>
                <a:ea typeface="Calibri"/>
                <a:cs typeface="Calibri"/>
                <a:sym typeface="Calibri"/>
              </a:rPr>
              <a:t>InspiraLabs • Ekskul Coding • Sekolah Qur'an Asy Syahid P7 SMA | 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